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dac0b5e05e49c8" /><Relationship Type="http://schemas.openxmlformats.org/officeDocument/2006/relationships/extended-properties" Target="/docProps/app.xml" Id="Rdfca6c9f2ed94125" /><Relationship Type="http://schemas.openxmlformats.org/officeDocument/2006/relationships/officeDocument" Target="/ppt/presentation.xml" Id="Rb87ccd55d371480f" /></Relationships>
</file>

<file path=ppt/presentation.xml><?xml version="1.0" encoding="utf-8"?>
<p:presentation xmlns:p="http://schemas.openxmlformats.org/presentationml/2006/main">
  <p:sldMasterIdLst>
    <p:sldMasterId xmlns:r="http://schemas.openxmlformats.org/officeDocument/2006/relationships" id="2147483648" r:id="Rc99624ddfe3d4cae"/>
  </p:sldMasterIdLst>
  <p:notesMasterIdLst>
    <p:notesMasterId xmlns:r="http://schemas.openxmlformats.org/officeDocument/2006/relationships" r:id="Re7a9541054cc4abe"/>
  </p:notesMasterIdLst>
  <p:sldIdLst>
    <p:sldId xmlns:r="http://schemas.openxmlformats.org/officeDocument/2006/relationships" id="256" r:id="R0325b50b35214ac1"/>
    <p:sldId xmlns:r="http://schemas.openxmlformats.org/officeDocument/2006/relationships" id="257" r:id="Re32755d5f9c640c7"/>
    <p:sldId xmlns:r="http://schemas.openxmlformats.org/officeDocument/2006/relationships" id="258" r:id="Rcce7e46f72d74f66"/>
    <p:sldId xmlns:r="http://schemas.openxmlformats.org/officeDocument/2006/relationships" id="259" r:id="Rf7ca8f3a1e01440b"/>
    <p:sldId xmlns:r="http://schemas.openxmlformats.org/officeDocument/2006/relationships" id="260" r:id="Rfef8517cae1a4d69"/>
    <p:sldId xmlns:r="http://schemas.openxmlformats.org/officeDocument/2006/relationships" id="261" r:id="R7e54767b0b1b4494"/>
    <p:sldId xmlns:r="http://schemas.openxmlformats.org/officeDocument/2006/relationships" id="262" r:id="R81d6d6a18ca4433c"/>
    <p:sldId xmlns:r="http://schemas.openxmlformats.org/officeDocument/2006/relationships" id="263" r:id="R377550618155420d"/>
    <p:sldId xmlns:r="http://schemas.openxmlformats.org/officeDocument/2006/relationships" id="264" r:id="R6056bc7c31294cb7"/>
    <p:sldId xmlns:r="http://schemas.openxmlformats.org/officeDocument/2006/relationships" id="265" r:id="R029f6ad3b0bb4c8b"/>
    <p:sldId xmlns:r="http://schemas.openxmlformats.org/officeDocument/2006/relationships" id="266" r:id="R018561b65ed44310"/>
    <p:sldId xmlns:r="http://schemas.openxmlformats.org/officeDocument/2006/relationships" id="267" r:id="R2112a0d3cb6540f1"/>
    <p:sldId xmlns:r="http://schemas.openxmlformats.org/officeDocument/2006/relationships" id="268" r:id="R976bf464e8c443f0"/>
    <p:sldId xmlns:r="http://schemas.openxmlformats.org/officeDocument/2006/relationships" id="269" r:id="R8a88f92e2fb64679"/>
    <p:sldId xmlns:r="http://schemas.openxmlformats.org/officeDocument/2006/relationships" id="270" r:id="R279cb67ca02f4452"/>
    <p:sldId xmlns:r="http://schemas.openxmlformats.org/officeDocument/2006/relationships" id="271" r:id="Rf1bdfc47dd2b41c4"/>
    <p:sldId xmlns:r="http://schemas.openxmlformats.org/officeDocument/2006/relationships" id="272" r:id="R93c53c0afc2b42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a6c105cb6f4ca3" /><Relationship Type="http://schemas.openxmlformats.org/officeDocument/2006/relationships/slideMaster" Target="/ppt/slideMasters/slideMaster1.xml" Id="Rc99624ddfe3d4cae" /><Relationship Type="http://schemas.openxmlformats.org/officeDocument/2006/relationships/notesMaster" Target="/ppt/notesMasters/notesMaster1.xml" Id="Re7a9541054cc4abe" /><Relationship Type="http://schemas.openxmlformats.org/officeDocument/2006/relationships/presProps" Target="/ppt/presProps.xml" Id="R5e29d806b552461d" /><Relationship Type="http://schemas.openxmlformats.org/officeDocument/2006/relationships/tableStyles" Target="/ppt/tableStyles.xml" Id="Rbd4184489f0742ae" /><Relationship Type="http://schemas.openxmlformats.org/officeDocument/2006/relationships/slide" Target="/ppt/slides/slide1.xml" Id="R0325b50b35214ac1" /><Relationship Type="http://schemas.openxmlformats.org/officeDocument/2006/relationships/slide" Target="/ppt/slides/slide2.xml" Id="Re32755d5f9c640c7" /><Relationship Type="http://schemas.openxmlformats.org/officeDocument/2006/relationships/slide" Target="/ppt/slides/slide3.xml" Id="Rcce7e46f72d74f66" /><Relationship Type="http://schemas.openxmlformats.org/officeDocument/2006/relationships/slide" Target="/ppt/slides/slide4.xml" Id="Rf7ca8f3a1e01440b" /><Relationship Type="http://schemas.openxmlformats.org/officeDocument/2006/relationships/slide" Target="/ppt/slides/slide5.xml" Id="Rfef8517cae1a4d69" /><Relationship Type="http://schemas.openxmlformats.org/officeDocument/2006/relationships/slide" Target="/ppt/slides/slide6.xml" Id="R7e54767b0b1b4494" /><Relationship Type="http://schemas.openxmlformats.org/officeDocument/2006/relationships/slide" Target="/ppt/slides/slide7.xml" Id="R81d6d6a18ca4433c" /><Relationship Type="http://schemas.openxmlformats.org/officeDocument/2006/relationships/slide" Target="/ppt/slides/slide8.xml" Id="R377550618155420d" /><Relationship Type="http://schemas.openxmlformats.org/officeDocument/2006/relationships/slide" Target="/ppt/slides/slide9.xml" Id="R6056bc7c31294cb7" /><Relationship Type="http://schemas.openxmlformats.org/officeDocument/2006/relationships/slide" Target="/ppt/slides/slide10.xml" Id="R029f6ad3b0bb4c8b" /><Relationship Type="http://schemas.openxmlformats.org/officeDocument/2006/relationships/slide" Target="/ppt/slides/slide11.xml" Id="R018561b65ed44310" /><Relationship Type="http://schemas.openxmlformats.org/officeDocument/2006/relationships/slide" Target="/ppt/slides/slide12.xml" Id="R2112a0d3cb6540f1" /><Relationship Type="http://schemas.openxmlformats.org/officeDocument/2006/relationships/slide" Target="/ppt/slides/slide13.xml" Id="R976bf464e8c443f0" /><Relationship Type="http://schemas.openxmlformats.org/officeDocument/2006/relationships/slide" Target="/ppt/slides/slide14.xml" Id="R8a88f92e2fb64679" /><Relationship Type="http://schemas.openxmlformats.org/officeDocument/2006/relationships/slide" Target="/ppt/slides/slide15.xml" Id="R279cb67ca02f4452" /><Relationship Type="http://schemas.openxmlformats.org/officeDocument/2006/relationships/slide" Target="/ppt/slides/slide16.xml" Id="Rf1bdfc47dd2b41c4" /><Relationship Type="http://schemas.openxmlformats.org/officeDocument/2006/relationships/slide" Target="/ppt/slides/slide17.xml" Id="R93c53c0afc2b42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1e34e6841a49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14525bf2c14f84" /><Relationship Type="http://schemas.openxmlformats.org/officeDocument/2006/relationships/notesMaster" Target="/ppt/notesMasters/notesMaster1.xml" Id="R4496796f217c45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a7a070d5fb47fa" /><Relationship Type="http://schemas.openxmlformats.org/officeDocument/2006/relationships/notesMaster" Target="/ppt/notesMasters/notesMaster1.xml" Id="R27131407a14745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1f0a5c33ab4af7" /><Relationship Type="http://schemas.openxmlformats.org/officeDocument/2006/relationships/notesMaster" Target="/ppt/notesMasters/notesMaster1.xml" Id="R24c68dba6bf343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d4c198d1a34bee" /><Relationship Type="http://schemas.openxmlformats.org/officeDocument/2006/relationships/notesMaster" Target="/ppt/notesMasters/notesMaster1.xml" Id="R186ab65705b743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a1175e978f418e" /><Relationship Type="http://schemas.openxmlformats.org/officeDocument/2006/relationships/notesMaster" Target="/ppt/notesMasters/notesMaster1.xml" Id="Rc36e2fb166ac4e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3404d1406241a3" /><Relationship Type="http://schemas.openxmlformats.org/officeDocument/2006/relationships/notesMaster" Target="/ppt/notesMasters/notesMaster1.xml" Id="Rc5a6c9ed37bd4c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de1b9827db4011" /><Relationship Type="http://schemas.openxmlformats.org/officeDocument/2006/relationships/notesMaster" Target="/ppt/notesMasters/notesMaster1.xml" Id="Rd454cfad034942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c05c40cf08458e" /><Relationship Type="http://schemas.openxmlformats.org/officeDocument/2006/relationships/notesMaster" Target="/ppt/notesMasters/notesMaster1.xml" Id="Rdbaef3423f5e4d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9e3a1de0a24f84" /><Relationship Type="http://schemas.openxmlformats.org/officeDocument/2006/relationships/notesMaster" Target="/ppt/notesMasters/notesMaster1.xml" Id="R59c395638a3b4d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0680af38ae47d6" /><Relationship Type="http://schemas.openxmlformats.org/officeDocument/2006/relationships/notesMaster" Target="/ppt/notesMasters/notesMaster1.xml" Id="Ra7cf83e34a1645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1032a51f3f41dd" /><Relationship Type="http://schemas.openxmlformats.org/officeDocument/2006/relationships/notesMaster" Target="/ppt/notesMasters/notesMaster1.xml" Id="Rf61240a27cfc4c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3430239b1746b5" /><Relationship Type="http://schemas.openxmlformats.org/officeDocument/2006/relationships/notesMaster" Target="/ppt/notesMasters/notesMaster1.xml" Id="R0dac646a0a0944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1c3dab843948f4" /><Relationship Type="http://schemas.openxmlformats.org/officeDocument/2006/relationships/notesMaster" Target="/ppt/notesMasters/notesMaster1.xml" Id="Radc5017104644f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2a71c08b4e4a59" /><Relationship Type="http://schemas.openxmlformats.org/officeDocument/2006/relationships/notesMaster" Target="/ppt/notesMasters/notesMaster1.xml" Id="R3e54579bfbef4e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bc2a180d2946fd" /><Relationship Type="http://schemas.openxmlformats.org/officeDocument/2006/relationships/notesMaster" Target="/ppt/notesMasters/notesMaster1.xml" Id="R1d5a107acdea41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d0fdceeef84fc3" /><Relationship Type="http://schemas.openxmlformats.org/officeDocument/2006/relationships/notesMaster" Target="/ppt/notesMasters/notesMaster1.xml" Id="Rd407dfc60d794ba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417e0ec4774849" /><Relationship Type="http://schemas.openxmlformats.org/officeDocument/2006/relationships/notesMaster" Target="/ppt/notesMasters/notesMaster1.xml" Id="R4a48fca91bc64a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min. Introduce the goal: explain the decisions behind a working current-state classifier. Timing: data 3–18, training 18–30, evaluation 30–40, packaging 40–47, streaming 47–57, recap 57–60. Prepare src/reference.ipynb, the matching CSV/model/metadata and three terminals before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 min. Show the raw rows, augmentation, stratified split, training missingness and target distribution. Explain product type, RPM, torque and tool wear. AI4I and the extension are simulated. Artificial IDs and timestamps do not establish machine histories. Source: src/reference.ipynb sections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8–10 min. Ask participants to explain when each field becomes available. Do not reveal the answer until they have responded. Follow up: would perfect correlation make an input valid?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10–18 min. Show the feature-decision table in section 5. Inputs: air_temperature, process_temperature, rpm, torque, tool_wear, vibration_rms, type. X is the valid input set. y is machine_failure. Vibration is a simulated teaching signal. Redundant generated variables need not add information. PCA adds complexity for a modest input set and weakens interpretation. Sources: artifacts/machine_failure_metadata.json; src/reference.ipynb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18–23 min. Show preprocessing, a readable tree and the training/validation comparison. Split before learning preprocessing. Stratification preserves rare failures. The dummy establishes performance without sensors. The small tree exposes rules. The forest models nonlinear relationships and interactions through multiple trees. Source: src/reference.ipynb sections 4,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23–25 min. Wait 20 seconds. Invite an explanation of training medians and the training/validation gap. Ask whether fitting an imputer on all rows exposes holdout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25–30 min. Fit imputers, category vocabulary and classifier only on training rows. Prediction reuses those fitted transformations. Trees need no standard scaling. Compare training and validation metrics to discuss overfitting, including the deliberately deep tree. No refit on train plus validation in this workflow. Source: src/reference.ipynb sections 6–7,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30–33 min. Show the confusion matrix and metrics from section 10. The deck uses the saved metadata, not a newly executed training run. There are 60 true positives, 1,802 true negatives, 130 false positives and 8 false negatives. Sources: artifacts/machine_failure_metadata.json; local/STREAMING.md verification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33–35 min. Ask the audience to reason about misses and false alerts. An always-normal classifier gets 1932/2000 = 96.6% accuracy on this test set but detects no failures. Do not tune against test labels. Sources for counts: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35–40 min. Demonstrate section 9 using validation results. The saved threshold is 0.13, selected using hypothetical costs. Distinguish score, threshold and label. Forest scores are not automatically calibrated risks. Precision = TP/(TP+FP), recall = TP/(TP+FN). Test F1 is 0.465 and average precision is 0.688. AP summarizes ranking across thresholds. Keep test results frozen. Sources: src/reference.ipynb sections 7, 9–10; artifacts/machine_failure_metadata.json.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40–43 min. Show local predict_proba, apply the saved threshold, then inspect the saved files. The model pipeline is artifacts/machine_failure_pipeline.joblib. The input schema, threshold and versions live in artifacts/machine_failure_metadata.json. Source: src/reference.ipynb sections 11–12.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43–44 min. Ask what would change if production rebuilt preprocessing from each new batch. Ask why default predict() would differ from applying the selected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44–47 min. Explain the boundary between ML pipeline and application policy. Load only trusted joblib files and use compatible package versions. Demonstrate the schema adapter. Source: src/reference.ipynb sections 11–13; artifacts/machine_failure_metadata.json.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47–52 min. Start the prepared broker with local/.runtime/kafka_2.13-4.2.0/bin/kafka-server-start.sh local/kafka.properties. Use a compatible Python environment. Consumer: python src/consumer.py --bootstrap-servers 127.0.0.1:9092 --metrics-every 20. Producer: python src/producer.py --bootstrap-servers 127.0.0.1:9092 --rate 5. Follow local/STREAMING.md for one-time setup. Its old absolute working-directory and environment paths need adaptation to this checkout. Producer replays the matching test split, not arbitrary synthetic sensor values. Source: local/STREAMING.md; src/producer.py; src/consumer.py.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52–54 min. Wait for the distinction between inference inputs and scoring labels. Ask whether replaying the same observations provides more independent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54–57 min. Missing numeric values are imputed. Unknown categories are flagged. The streaming consumer skips invalid JSON and non-numeric or non-finite readings. Finite spikes remain, matching notebook evaluation; the notebook local adapter uses stricter bounds. Metrics reset on restart. Committed offsets determine replay. Source: local/STREAMING.md; src/consumer.py.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57–60 min. Invite the audience to narrate one observation through the entire system. Close with the limits: simulated data, current-state classification, random split on similar observations, no proof of future-failure or unseen-machine performance. Sources: src/reference.ipynb sections 4, 14;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0ec6c8f25446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15000399624245" /><Relationship Type="http://schemas.openxmlformats.org/officeDocument/2006/relationships/slideLayout" Target="/ppt/slideLayouts/slideLayout1.xml" Id="R02230386695747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230386695747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55649f0c994dfd" /><Relationship Type="http://schemas.openxmlformats.org/officeDocument/2006/relationships/notesSlide" Target="/ppt/notesSlides/notesSlide1.xml" Id="R2f5e22523ed744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15b08fd12f4216" /><Relationship Type="http://schemas.openxmlformats.org/officeDocument/2006/relationships/notesSlide" Target="/ppt/notesSlides/notesSlide2.xml" Id="R7006b644512e4a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be67c3660749fa" /><Relationship Type="http://schemas.openxmlformats.org/officeDocument/2006/relationships/notesSlide" Target="/ppt/notesSlides/notesSlide3.xml" Id="Rf44d32dd748748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f898d4c7c846e2" /><Relationship Type="http://schemas.openxmlformats.org/officeDocument/2006/relationships/notesSlide" Target="/ppt/notesSlides/notesSlide4.xml" Id="R8dd27d4dd7824c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4817d5d6564e3a" /><Relationship Type="http://schemas.openxmlformats.org/officeDocument/2006/relationships/notesSlide" Target="/ppt/notesSlides/notesSlide5.xml" Id="Rfef1675c653248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0412f764e24cd1" /><Relationship Type="http://schemas.openxmlformats.org/officeDocument/2006/relationships/notesSlide" Target="/ppt/notesSlides/notesSlide6.xml" Id="R2cfc0a528f274b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bb887e0d8c4827" /><Relationship Type="http://schemas.openxmlformats.org/officeDocument/2006/relationships/notesSlide" Target="/ppt/notesSlides/notesSlide7.xml" Id="R005ece92555246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52d4012c2140f9" /><Relationship Type="http://schemas.openxmlformats.org/officeDocument/2006/relationships/notesSlide" Target="/ppt/notesSlides/notesSlide8.xml" Id="R54f7431f8ffa45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b32b5f2df64b80" /><Relationship Type="http://schemas.openxmlformats.org/officeDocument/2006/relationships/notesSlide" Target="/ppt/notesSlides/notesSlide9.xml" Id="R43991aaed26c41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90f983953b4810" /><Relationship Type="http://schemas.openxmlformats.org/officeDocument/2006/relationships/notesSlide" Target="/ppt/notesSlides/notesSlide10.xml" Id="Rf6c0f36bea3d4a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a852c4fd5b4553" /><Relationship Type="http://schemas.openxmlformats.org/officeDocument/2006/relationships/notesSlide" Target="/ppt/notesSlides/notesSlide11.xml" Id="Rec5d474a16f641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b4ee808f394079" /><Relationship Type="http://schemas.openxmlformats.org/officeDocument/2006/relationships/notesSlide" Target="/ppt/notesSlides/notesSlide12.xml" Id="R8223ebc9341848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165b747ddb2476b" /><Relationship Type="http://schemas.openxmlformats.org/officeDocument/2006/relationships/notesSlide" Target="/ppt/notesSlides/notesSlide13.xml" Id="R498245bb881043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3b955d2281460b" /><Relationship Type="http://schemas.openxmlformats.org/officeDocument/2006/relationships/notesSlide" Target="/ppt/notesSlides/notesSlide14.xml" Id="R63ca18b5487341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34a025d06d44b2" /><Relationship Type="http://schemas.openxmlformats.org/officeDocument/2006/relationships/notesSlide" Target="/ppt/notesSlides/notesSlide15.xml" Id="R83712e7801df4c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af54fae7e64d07" /><Relationship Type="http://schemas.openxmlformats.org/officeDocument/2006/relationships/notesSlide" Target="/ppt/notesSlides/notesSlide16.xml" Id="R8a02f4f209504b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5c707f824584455" /><Relationship Type="http://schemas.openxmlformats.org/officeDocument/2006/relationships/notesSlide" Target="/ppt/notesSlides/notesSlide17.xml" Id="Rd4636250989540b7" /></Relationships>
</file>

<file path=ppt/slides/slide1.xml><?xml version="1.0" encoding="utf-8"?>
<p:sld xmlns:p="http://schemas.openxmlformats.org/presentationml/2006/main">
  <p:cSld>
    <p:bg>
      <p:bgPr>
        <a:solidFill xmlns:a="http://schemas.openxmlformats.org/drawingml/2006/main">
          <a:srgbClr val="13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38AC30-5816-48AC-94BC-71A727413E93}"/>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1DDCC"/>
                </a:solidFill>
                <a:latin typeface="Arial"/>
                <a:ea typeface="Arial"/>
                <a:cs typeface="Arial"/>
              </a:defRPr>
            </a:pPr>
            <a:r>
              <a:rPr sz="1650" b="1">
                <a:solidFill>
                  <a:srgbClr val="81DDCC"/>
                </a:solidFill>
                <a:latin typeface="Arial"/>
                <a:ea typeface="Arial"/>
                <a:cs typeface="Arial"/>
              </a:rPr>
              <a:t>KT</a:t>
            </a:r>
          </a:p>
        </p:txBody>
      </p:sp>
      <p:sp>
        <p:nvSpPr>
          <p:cNvPr id="2" name="">
            <a:extLst xmlns:a="http://schemas.openxmlformats.org/drawingml/2006/main">
              <a:ext uri="{FF2B5EF4-FFF2-40B4-BE49-F238E27FC236}">
                <a16:creationId xmlns:a16="http://schemas.microsoft.com/office/drawing/2014/main" id="{24BF86D9-6801-4DE4-8085-B25F6AB10D7F}"/>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AI4I: data to live inference</a:t>
            </a:r>
          </a:p>
        </p:txBody>
      </p:sp>
      <p:sp>
        <p:nvSpPr>
          <p:cNvPr id="3" name="">
            <a:extLst xmlns:a="http://schemas.openxmlformats.org/drawingml/2006/main">
              <a:ext uri="{FF2B5EF4-FFF2-40B4-BE49-F238E27FC236}">
                <a16:creationId xmlns:a16="http://schemas.microsoft.com/office/drawing/2014/main" id="{4DAB6BC4-4A1A-4C17-91FA-9EB0EC7A0A61}"/>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Show → pause → tell</a:t>
            </a:r>
          </a:p>
        </p:txBody>
      </p:sp>
      <p:sp>
        <p:nvSpPr>
          <p:cNvPr id="4" name="">
            <a:extLst xmlns:a="http://schemas.openxmlformats.org/drawingml/2006/main">
              <a:ext uri="{FF2B5EF4-FFF2-40B4-BE49-F238E27FC236}">
                <a16:creationId xmlns:a16="http://schemas.microsoft.com/office/drawing/2014/main" id="{412A64E8-48CD-45B2-8673-6DFE425203AD}"/>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1DDCC"/>
                </a:solidFill>
                <a:latin typeface="Arial"/>
                <a:ea typeface="Arial"/>
                <a:cs typeface="Arial"/>
              </a:defRPr>
            </a:pPr>
            <a:r>
              <a:rPr sz="1725" b="0">
                <a:solidFill>
                  <a:srgbClr val="81DDCC"/>
                </a:solidFill>
                <a:latin typeface="Arial"/>
                <a:ea typeface="Arial"/>
                <a:cs typeface="Arial"/>
              </a:rPr>
              <a:t>60 minutes with the notebook and Kafka demo</a:t>
            </a:r>
          </a:p>
        </p:txBody>
      </p:sp>
      <p:sp>
        <p:nvSpPr>
          <p:cNvPr id="5" name="">
            <a:extLst xmlns:a="http://schemas.openxmlformats.org/drawingml/2006/main">
              <a:ext uri="{FF2B5EF4-FFF2-40B4-BE49-F238E27FC236}">
                <a16:creationId xmlns:a16="http://schemas.microsoft.com/office/drawing/2014/main" id="{C8F8C6C3-767A-48ED-9E17-83AC57937630}"/>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81DDCC"/>
                </a:solidFill>
                <a:latin typeface="Arial"/>
                <a:ea typeface="Arial"/>
                <a:cs typeface="Arial"/>
              </a:defRPr>
            </a:pPr>
            <a:r>
              <a:rPr sz="1350" b="0">
                <a:solidFill>
                  <a:srgbClr val="81DDCC"/>
                </a:solidFill>
                <a:latin typeface="Arial"/>
                <a:ea typeface="Arial"/>
                <a:cs typeface="Arial"/>
              </a:rPr>
              <a:t>01</a:t>
            </a:r>
          </a:p>
        </p:txBody>
      </p:sp>
    </p:spTree>
    <p:extLst>
      <p:ext uri="{BB962C8B-B14F-4D97-AF65-F5344CB8AC3E}">
        <p14:creationId xmlns:p14="http://schemas.microsoft.com/office/powerpoint/2010/main" val="400087057"/>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EF264A-F525-4044-B1DB-CBCBBC82877D}"/>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SHOW</a:t>
            </a:r>
          </a:p>
        </p:txBody>
      </p:sp>
      <p:sp>
        <p:nvSpPr>
          <p:cNvPr id="2" name="">
            <a:extLst xmlns:a="http://schemas.openxmlformats.org/drawingml/2006/main">
              <a:ext uri="{FF2B5EF4-FFF2-40B4-BE49-F238E27FC236}">
                <a16:creationId xmlns:a16="http://schemas.microsoft.com/office/drawing/2014/main" id="{4F03B237-8FF7-4394-89AC-CE3B54DFDB77}"/>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One observation, one outcome</a:t>
            </a:r>
          </a:p>
        </p:txBody>
      </p:sp>
      <p:sp>
        <p:nvSpPr>
          <p:cNvPr id="3" name="">
            <a:extLst xmlns:a="http://schemas.openxmlformats.org/drawingml/2006/main">
              <a:ext uri="{FF2B5EF4-FFF2-40B4-BE49-F238E27FC236}">
                <a16:creationId xmlns:a16="http://schemas.microsoft.com/office/drawing/2014/main" id="{C642B0FA-29C2-4DF5-82A8-9CAC0AA7C874}"/>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Operating conditions now</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A recorded failure label</a:t>
            </a:r>
          </a:p>
        </p:txBody>
      </p:sp>
      <p:sp>
        <p:nvSpPr>
          <p:cNvPr id="4" name="">
            <a:extLst xmlns:a="http://schemas.openxmlformats.org/drawingml/2006/main">
              <a:ext uri="{FF2B5EF4-FFF2-40B4-BE49-F238E27FC236}">
                <a16:creationId xmlns:a16="http://schemas.microsoft.com/office/drawing/2014/main" id="{C3BC9489-F6A4-40F0-AC8B-D50B8C76A41A}"/>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Demo: reference.ipynb, sections 2–4</a:t>
            </a:r>
          </a:p>
        </p:txBody>
      </p:sp>
      <p:sp>
        <p:nvSpPr>
          <p:cNvPr id="5" name="">
            <a:extLst xmlns:a="http://schemas.openxmlformats.org/drawingml/2006/main">
              <a:ext uri="{FF2B5EF4-FFF2-40B4-BE49-F238E27FC236}">
                <a16:creationId xmlns:a16="http://schemas.microsoft.com/office/drawing/2014/main" id="{1428052F-BB26-4738-92E0-DC5F83A36438}"/>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02</a:t>
            </a:r>
          </a:p>
        </p:txBody>
      </p:sp>
    </p:spTree>
    <p:extLst>
      <p:ext uri="{BB962C8B-B14F-4D97-AF65-F5344CB8AC3E}">
        <p14:creationId xmlns:p14="http://schemas.microsoft.com/office/powerpoint/2010/main" val="716349230"/>
      </p:ext>
    </p:extLst>
  </p:cSld>
</p:sld>
</file>

<file path=ppt/slides/slide3.xml><?xml version="1.0" encoding="utf-8"?>
<p:sld xmlns:p="http://schemas.openxmlformats.org/presentationml/2006/main">
  <p:cSld>
    <p:bg>
      <p:bgPr>
        <a:solidFill xmlns:a="http://schemas.openxmlformats.org/drawingml/2006/main">
          <a:srgbClr val="13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AB1027-707D-4170-B6EE-01BB4784350D}"/>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1DDCC"/>
                </a:solidFill>
                <a:latin typeface="Arial"/>
                <a:ea typeface="Arial"/>
                <a:cs typeface="Arial"/>
              </a:defRPr>
            </a:pPr>
            <a:r>
              <a:rPr sz="1650" b="1">
                <a:solidFill>
                  <a:srgbClr val="81DDCC"/>
                </a:solidFill>
                <a:latin typeface="Arial"/>
                <a:ea typeface="Arial"/>
                <a:cs typeface="Arial"/>
              </a:rPr>
              <a:t>PAUSE</a:t>
            </a:r>
          </a:p>
        </p:txBody>
      </p:sp>
      <p:sp>
        <p:nvSpPr>
          <p:cNvPr id="2" name="">
            <a:extLst xmlns:a="http://schemas.openxmlformats.org/drawingml/2006/main">
              <a:ext uri="{FF2B5EF4-FFF2-40B4-BE49-F238E27FC236}">
                <a16:creationId xmlns:a16="http://schemas.microsoft.com/office/drawing/2014/main" id="{5BD7B8A1-6045-4AA5-A546-EB1486EE9B49}"/>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Which columns can the model use?</a:t>
            </a:r>
          </a:p>
        </p:txBody>
      </p:sp>
      <p:sp>
        <p:nvSpPr>
          <p:cNvPr id="3" name="">
            <a:extLst xmlns:a="http://schemas.openxmlformats.org/drawingml/2006/main">
              <a:ext uri="{FF2B5EF4-FFF2-40B4-BE49-F238E27FC236}">
                <a16:creationId xmlns:a16="http://schemas.microsoft.com/office/drawing/2014/main" id="{9AA1EA20-562B-42E4-9E51-6D0AA5BAB110}"/>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RPM     Tool wear     Product type</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Failure code     Post-failure alarm</a:t>
            </a:r>
          </a:p>
        </p:txBody>
      </p:sp>
      <p:sp>
        <p:nvSpPr>
          <p:cNvPr id="4" name="">
            <a:extLst xmlns:a="http://schemas.openxmlformats.org/drawingml/2006/main">
              <a:ext uri="{FF2B5EF4-FFF2-40B4-BE49-F238E27FC236}">
                <a16:creationId xmlns:a16="http://schemas.microsoft.com/office/drawing/2014/main" id="{7BBF6E90-25A1-495D-8E06-F144209A56DA}"/>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1DDCC"/>
                </a:solidFill>
                <a:latin typeface="Arial"/>
                <a:ea typeface="Arial"/>
                <a:cs typeface="Arial"/>
              </a:defRPr>
            </a:pPr>
            <a:r>
              <a:rPr sz="1725" b="0">
                <a:solidFill>
                  <a:srgbClr val="81DDCC"/>
                </a:solidFill>
                <a:latin typeface="Arial"/>
                <a:ea typeface="Arial"/>
                <a:cs typeface="Arial"/>
              </a:rPr>
              <a:t>Give the audience 20 seconds before advancing</a:t>
            </a:r>
          </a:p>
        </p:txBody>
      </p:sp>
      <p:sp>
        <p:nvSpPr>
          <p:cNvPr id="5" name="">
            <a:extLst xmlns:a="http://schemas.openxmlformats.org/drawingml/2006/main">
              <a:ext uri="{FF2B5EF4-FFF2-40B4-BE49-F238E27FC236}">
                <a16:creationId xmlns:a16="http://schemas.microsoft.com/office/drawing/2014/main" id="{E2B4ED1A-8DE9-40A9-A86D-79CBCAB957FF}"/>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81DDCC"/>
                </a:solidFill>
                <a:latin typeface="Arial"/>
                <a:ea typeface="Arial"/>
                <a:cs typeface="Arial"/>
              </a:defRPr>
            </a:pPr>
            <a:r>
              <a:rPr sz="1350" b="0">
                <a:solidFill>
                  <a:srgbClr val="81DDCC"/>
                </a:solidFill>
                <a:latin typeface="Arial"/>
                <a:ea typeface="Arial"/>
                <a:cs typeface="Arial"/>
              </a:rPr>
              <a:t>03</a:t>
            </a:r>
          </a:p>
        </p:txBody>
      </p:sp>
    </p:spTree>
    <p:extLst>
      <p:ext uri="{BB962C8B-B14F-4D97-AF65-F5344CB8AC3E}">
        <p14:creationId xmlns:p14="http://schemas.microsoft.com/office/powerpoint/2010/main" val="173142894"/>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4E7497-0010-4D23-82E2-FC142FF4206C}"/>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TELL</a:t>
            </a:r>
          </a:p>
        </p:txBody>
      </p:sp>
      <p:sp>
        <p:nvSpPr>
          <p:cNvPr id="2" name="">
            <a:extLst xmlns:a="http://schemas.openxmlformats.org/drawingml/2006/main">
              <a:ext uri="{FF2B5EF4-FFF2-40B4-BE49-F238E27FC236}">
                <a16:creationId xmlns:a16="http://schemas.microsoft.com/office/drawing/2014/main" id="{63C2D2CA-369F-4982-820D-5B136A77D307}"/>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Availability decides the input contract</a:t>
            </a:r>
          </a:p>
        </p:txBody>
      </p:sp>
      <p:sp>
        <p:nvSpPr>
          <p:cNvPr id="3" name="">
            <a:extLst xmlns:a="http://schemas.openxmlformats.org/drawingml/2006/main">
              <a:ext uri="{FF2B5EF4-FFF2-40B4-BE49-F238E27FC236}">
                <a16:creationId xmlns:a16="http://schemas.microsoft.com/office/drawing/2014/main" id="{8818E525-EE70-484A-9910-D3524F0768DB}"/>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Keep six numeric inputs and product type</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Exclude outcomes, post-event fields and IDs</a:t>
            </a:r>
          </a:p>
        </p:txBody>
      </p:sp>
      <p:sp>
        <p:nvSpPr>
          <p:cNvPr id="4" name="">
            <a:extLst xmlns:a="http://schemas.openxmlformats.org/drawingml/2006/main">
              <a:ext uri="{FF2B5EF4-FFF2-40B4-BE49-F238E27FC236}">
                <a16:creationId xmlns:a16="http://schemas.microsoft.com/office/drawing/2014/main" id="{AE2D8420-4036-4131-93D4-5D08022AB137}"/>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Current-state classification. No future-failure target.</a:t>
            </a:r>
          </a:p>
        </p:txBody>
      </p:sp>
      <p:sp>
        <p:nvSpPr>
          <p:cNvPr id="5" name="">
            <a:extLst xmlns:a="http://schemas.openxmlformats.org/drawingml/2006/main">
              <a:ext uri="{FF2B5EF4-FFF2-40B4-BE49-F238E27FC236}">
                <a16:creationId xmlns:a16="http://schemas.microsoft.com/office/drawing/2014/main" id="{10BC69E2-87A1-43AC-9034-C2695CC5E0C4}"/>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04</a:t>
            </a:r>
          </a:p>
        </p:txBody>
      </p:sp>
    </p:spTree>
    <p:extLst>
      <p:ext uri="{BB962C8B-B14F-4D97-AF65-F5344CB8AC3E}">
        <p14:creationId xmlns:p14="http://schemas.microsoft.com/office/powerpoint/2010/main" val="1330013150"/>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B89859-A168-4117-953D-BFED5CB176F5}"/>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SHOW</a:t>
            </a:r>
          </a:p>
        </p:txBody>
      </p:sp>
      <p:sp>
        <p:nvSpPr>
          <p:cNvPr id="2" name="">
            <a:extLst xmlns:a="http://schemas.openxmlformats.org/drawingml/2006/main">
              <a:ext uri="{FF2B5EF4-FFF2-40B4-BE49-F238E27FC236}">
                <a16:creationId xmlns:a16="http://schemas.microsoft.com/office/drawing/2014/main" id="{4340B7CA-2030-4577-90D7-5A039E5770C9}"/>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The training experiment</a:t>
            </a:r>
          </a:p>
        </p:txBody>
      </p:sp>
      <p:sp>
        <p:nvSpPr>
          <p:cNvPr id="3" name="">
            <a:extLst xmlns:a="http://schemas.openxmlformats.org/drawingml/2006/main">
              <a:ext uri="{FF2B5EF4-FFF2-40B4-BE49-F238E27FC236}">
                <a16:creationId xmlns:a16="http://schemas.microsoft.com/office/drawing/2014/main" id="{07B7D562-2A9D-49E9-A191-66EBE48F283C}"/>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60% training     20% validation     20% test</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Dummy baseline, small tree, Random Forest</a:t>
            </a:r>
          </a:p>
        </p:txBody>
      </p:sp>
      <p:sp>
        <p:nvSpPr>
          <p:cNvPr id="4" name="">
            <a:extLst xmlns:a="http://schemas.openxmlformats.org/drawingml/2006/main">
              <a:ext uri="{FF2B5EF4-FFF2-40B4-BE49-F238E27FC236}">
                <a16:creationId xmlns:a16="http://schemas.microsoft.com/office/drawing/2014/main" id="{55E66488-BCBA-4B3E-9000-1EF5D62B26EE}"/>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Demo: reference.ipynb, sections 6–7</a:t>
            </a:r>
          </a:p>
        </p:txBody>
      </p:sp>
      <p:sp>
        <p:nvSpPr>
          <p:cNvPr id="5" name="">
            <a:extLst xmlns:a="http://schemas.openxmlformats.org/drawingml/2006/main">
              <a:ext uri="{FF2B5EF4-FFF2-40B4-BE49-F238E27FC236}">
                <a16:creationId xmlns:a16="http://schemas.microsoft.com/office/drawing/2014/main" id="{A83305EB-074F-4DB2-80EA-1D03F4F3FD0F}"/>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05</a:t>
            </a:r>
          </a:p>
        </p:txBody>
      </p:sp>
    </p:spTree>
    <p:extLst>
      <p:ext uri="{BB962C8B-B14F-4D97-AF65-F5344CB8AC3E}">
        <p14:creationId xmlns:p14="http://schemas.microsoft.com/office/powerpoint/2010/main" val="1274323229"/>
      </p:ext>
    </p:extLst>
  </p:cSld>
</p:sld>
</file>

<file path=ppt/slides/slide6.xml><?xml version="1.0" encoding="utf-8"?>
<p:sld xmlns:p="http://schemas.openxmlformats.org/presentationml/2006/main">
  <p:cSld>
    <p:bg>
      <p:bgPr>
        <a:solidFill xmlns:a="http://schemas.openxmlformats.org/drawingml/2006/main">
          <a:srgbClr val="13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A03590-9FAB-4A61-9DA7-846AAA66B023}"/>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1DDCC"/>
                </a:solidFill>
                <a:latin typeface="Arial"/>
                <a:ea typeface="Arial"/>
                <a:cs typeface="Arial"/>
              </a:defRPr>
            </a:pPr>
            <a:r>
              <a:rPr sz="1650" b="1">
                <a:solidFill>
                  <a:srgbClr val="81DDCC"/>
                </a:solidFill>
                <a:latin typeface="Arial"/>
                <a:ea typeface="Arial"/>
                <a:cs typeface="Arial"/>
              </a:rPr>
              <a:t>PAUSE</a:t>
            </a:r>
          </a:p>
        </p:txBody>
      </p:sp>
      <p:sp>
        <p:nvSpPr>
          <p:cNvPr id="2" name="">
            <a:extLst xmlns:a="http://schemas.openxmlformats.org/drawingml/2006/main">
              <a:ext uri="{FF2B5EF4-FFF2-40B4-BE49-F238E27FC236}">
                <a16:creationId xmlns:a16="http://schemas.microsoft.com/office/drawing/2014/main" id="{5168D9E1-8977-4DBC-9265-83C60B528A07}"/>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What does training actually learn?</a:t>
            </a:r>
          </a:p>
        </p:txBody>
      </p:sp>
      <p:sp>
        <p:nvSpPr>
          <p:cNvPr id="3" name="">
            <a:extLst xmlns:a="http://schemas.openxmlformats.org/drawingml/2006/main">
              <a:ext uri="{FF2B5EF4-FFF2-40B4-BE49-F238E27FC236}">
                <a16:creationId xmlns:a16="http://schemas.microsoft.com/office/drawing/2014/main" id="{12A72078-F918-4BAB-8F26-38A75436BE06}"/>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A missing value needs a replacement.</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Where should that replacement come from?</a:t>
            </a:r>
          </a:p>
        </p:txBody>
      </p:sp>
      <p:sp>
        <p:nvSpPr>
          <p:cNvPr id="4" name="">
            <a:extLst xmlns:a="http://schemas.openxmlformats.org/drawingml/2006/main">
              <a:ext uri="{FF2B5EF4-FFF2-40B4-BE49-F238E27FC236}">
                <a16:creationId xmlns:a16="http://schemas.microsoft.com/office/drawing/2014/main" id="{D83E65BB-456D-4E54-BB0D-3E7F52B4B7A0}"/>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1DDCC"/>
                </a:solidFill>
                <a:latin typeface="Arial"/>
                <a:ea typeface="Arial"/>
                <a:cs typeface="Arial"/>
              </a:defRPr>
            </a:pPr>
            <a:r>
              <a:rPr sz="1725" b="0">
                <a:solidFill>
                  <a:srgbClr val="81DDCC"/>
                </a:solidFill>
                <a:latin typeface="Arial"/>
                <a:ea typeface="Arial"/>
                <a:cs typeface="Arial"/>
              </a:rPr>
              <a:t>Then ask: what would a perfect training score prove?</a:t>
            </a:r>
          </a:p>
        </p:txBody>
      </p:sp>
      <p:sp>
        <p:nvSpPr>
          <p:cNvPr id="5" name="">
            <a:extLst xmlns:a="http://schemas.openxmlformats.org/drawingml/2006/main">
              <a:ext uri="{FF2B5EF4-FFF2-40B4-BE49-F238E27FC236}">
                <a16:creationId xmlns:a16="http://schemas.microsoft.com/office/drawing/2014/main" id="{AF664855-0827-45F8-B0B7-CEE88F51A223}"/>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81DDCC"/>
                </a:solidFill>
                <a:latin typeface="Arial"/>
                <a:ea typeface="Arial"/>
                <a:cs typeface="Arial"/>
              </a:defRPr>
            </a:pPr>
            <a:r>
              <a:rPr sz="1350" b="0">
                <a:solidFill>
                  <a:srgbClr val="81DDCC"/>
                </a:solidFill>
                <a:latin typeface="Arial"/>
                <a:ea typeface="Arial"/>
                <a:cs typeface="Arial"/>
              </a:rPr>
              <a:t>06</a:t>
            </a:r>
          </a:p>
        </p:txBody>
      </p:sp>
    </p:spTree>
    <p:extLst>
      <p:ext uri="{BB962C8B-B14F-4D97-AF65-F5344CB8AC3E}">
        <p14:creationId xmlns:p14="http://schemas.microsoft.com/office/powerpoint/2010/main" val="532757046"/>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ABA290-1C01-48A2-9574-0E234CC68C8D}"/>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TELL</a:t>
            </a:r>
          </a:p>
        </p:txBody>
      </p:sp>
      <p:sp>
        <p:nvSpPr>
          <p:cNvPr id="2" name="">
            <a:extLst xmlns:a="http://schemas.openxmlformats.org/drawingml/2006/main">
              <a:ext uri="{FF2B5EF4-FFF2-40B4-BE49-F238E27FC236}">
                <a16:creationId xmlns:a16="http://schemas.microsoft.com/office/drawing/2014/main" id="{A73FD3F6-9032-41B1-B98D-E5733EBE8C93}"/>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The pipeline learns from training rows</a:t>
            </a:r>
          </a:p>
        </p:txBody>
      </p:sp>
      <p:sp>
        <p:nvSpPr>
          <p:cNvPr id="3" name="">
            <a:extLst xmlns:a="http://schemas.openxmlformats.org/drawingml/2006/main">
              <a:ext uri="{FF2B5EF4-FFF2-40B4-BE49-F238E27FC236}">
                <a16:creationId xmlns:a16="http://schemas.microsoft.com/office/drawing/2014/main" id="{263F3247-3854-4DD8-BA6C-B772A2A922A5}"/>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Numeric values: median imputation</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Categories: imputation and one-hot encoding</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Classifier: learned rules and interactions</a:t>
            </a:r>
          </a:p>
        </p:txBody>
      </p:sp>
      <p:sp>
        <p:nvSpPr>
          <p:cNvPr id="4" name="">
            <a:extLst xmlns:a="http://schemas.openxmlformats.org/drawingml/2006/main">
              <a:ext uri="{FF2B5EF4-FFF2-40B4-BE49-F238E27FC236}">
                <a16:creationId xmlns:a16="http://schemas.microsoft.com/office/drawing/2014/main" id="{99A1BAE6-2338-4E8D-B0F6-E58953AA1DC9}"/>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Validation guides choices. Test data checks the frozen decision.</a:t>
            </a:r>
          </a:p>
        </p:txBody>
      </p:sp>
      <p:sp>
        <p:nvSpPr>
          <p:cNvPr id="5" name="">
            <a:extLst xmlns:a="http://schemas.openxmlformats.org/drawingml/2006/main">
              <a:ext uri="{FF2B5EF4-FFF2-40B4-BE49-F238E27FC236}">
                <a16:creationId xmlns:a16="http://schemas.microsoft.com/office/drawing/2014/main" id="{1DC8C4C7-095D-4DCA-966B-5181ADE55D2C}"/>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07</a:t>
            </a:r>
          </a:p>
        </p:txBody>
      </p:sp>
    </p:spTree>
    <p:extLst>
      <p:ext uri="{BB962C8B-B14F-4D97-AF65-F5344CB8AC3E}">
        <p14:creationId xmlns:p14="http://schemas.microsoft.com/office/powerpoint/2010/main" val="1761423992"/>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7BAAC7-3484-408D-8B82-79B435C3C2A6}"/>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SHOW</a:t>
            </a:r>
          </a:p>
        </p:txBody>
      </p:sp>
      <p:sp>
        <p:nvSpPr>
          <p:cNvPr id="2" name="">
            <a:extLst xmlns:a="http://schemas.openxmlformats.org/drawingml/2006/main">
              <a:ext uri="{FF2B5EF4-FFF2-40B4-BE49-F238E27FC236}">
                <a16:creationId xmlns:a16="http://schemas.microsoft.com/office/drawing/2014/main" id="{22F4F6B8-408C-4B0C-8ADF-987AF49DA9AF}"/>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The saved test result</a:t>
            </a:r>
          </a:p>
        </p:txBody>
      </p:sp>
      <p:sp>
        <p:nvSpPr>
          <p:cNvPr id="3" name="">
            <a:extLst xmlns:a="http://schemas.openxmlformats.org/drawingml/2006/main">
              <a:ext uri="{FF2B5EF4-FFF2-40B4-BE49-F238E27FC236}">
                <a16:creationId xmlns:a16="http://schemas.microsoft.com/office/drawing/2014/main" id="{A6C8B999-E600-4BD8-9387-D2054B8B258F}"/>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93.1% accuracy</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88.2% recall     31.6% precision</a:t>
            </a:r>
          </a:p>
        </p:txBody>
      </p:sp>
      <p:sp>
        <p:nvSpPr>
          <p:cNvPr id="4" name="">
            <a:extLst xmlns:a="http://schemas.openxmlformats.org/drawingml/2006/main">
              <a:ext uri="{FF2B5EF4-FFF2-40B4-BE49-F238E27FC236}">
                <a16:creationId xmlns:a16="http://schemas.microsoft.com/office/drawing/2014/main" id="{F2ED6969-C208-4955-81D5-695E64C1AA96}"/>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2,000 held-out observations at threshold 0.13</a:t>
            </a:r>
          </a:p>
        </p:txBody>
      </p:sp>
      <p:sp>
        <p:nvSpPr>
          <p:cNvPr id="5" name="">
            <a:extLst xmlns:a="http://schemas.openxmlformats.org/drawingml/2006/main">
              <a:ext uri="{FF2B5EF4-FFF2-40B4-BE49-F238E27FC236}">
                <a16:creationId xmlns:a16="http://schemas.microsoft.com/office/drawing/2014/main" id="{1CCAA833-3F85-45B5-8DF3-B3E375F52701}"/>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08</a:t>
            </a:r>
          </a:p>
        </p:txBody>
      </p:sp>
    </p:spTree>
    <p:extLst>
      <p:ext uri="{BB962C8B-B14F-4D97-AF65-F5344CB8AC3E}">
        <p14:creationId xmlns:p14="http://schemas.microsoft.com/office/powerpoint/2010/main" val="657530527"/>
      </p:ext>
    </p:extLst>
  </p:cSld>
</p:sld>
</file>

<file path=ppt/slides/slide9.xml><?xml version="1.0" encoding="utf-8"?>
<p:sld xmlns:p="http://schemas.openxmlformats.org/presentationml/2006/main">
  <p:cSld>
    <p:bg>
      <p:bgPr>
        <a:solidFill xmlns:a="http://schemas.openxmlformats.org/drawingml/2006/main">
          <a:srgbClr val="13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22DF20-831C-43C6-AFE9-AB22AAEE5B8E}"/>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1DDCC"/>
                </a:solidFill>
                <a:latin typeface="Arial"/>
                <a:ea typeface="Arial"/>
                <a:cs typeface="Arial"/>
              </a:defRPr>
            </a:pPr>
            <a:r>
              <a:rPr sz="1650" b="1">
                <a:solidFill>
                  <a:srgbClr val="81DDCC"/>
                </a:solidFill>
                <a:latin typeface="Arial"/>
                <a:ea typeface="Arial"/>
                <a:cs typeface="Arial"/>
              </a:rPr>
              <a:t>PAUSE</a:t>
            </a:r>
          </a:p>
        </p:txBody>
      </p:sp>
      <p:sp>
        <p:nvSpPr>
          <p:cNvPr id="2" name="">
            <a:extLst xmlns:a="http://schemas.openxmlformats.org/drawingml/2006/main">
              <a:ext uri="{FF2B5EF4-FFF2-40B4-BE49-F238E27FC236}">
                <a16:creationId xmlns:a16="http://schemas.microsoft.com/office/drawing/2014/main" id="{F64522CA-28CA-4244-A371-B5E068E2E832}"/>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Would you accept these alerts?</a:t>
            </a:r>
          </a:p>
        </p:txBody>
      </p:sp>
      <p:sp>
        <p:nvSpPr>
          <p:cNvPr id="3" name="">
            <a:extLst xmlns:a="http://schemas.openxmlformats.org/drawingml/2006/main">
              <a:ext uri="{FF2B5EF4-FFF2-40B4-BE49-F238E27FC236}">
                <a16:creationId xmlns:a16="http://schemas.microsoft.com/office/drawing/2014/main" id="{B24E41DE-873E-4E87-AF66-36EC4BCD3E89}"/>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60 failures detected</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8 failures missed</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130 false alarms</a:t>
            </a:r>
          </a:p>
        </p:txBody>
      </p:sp>
      <p:sp>
        <p:nvSpPr>
          <p:cNvPr id="4" name="">
            <a:extLst xmlns:a="http://schemas.openxmlformats.org/drawingml/2006/main">
              <a:ext uri="{FF2B5EF4-FFF2-40B4-BE49-F238E27FC236}">
                <a16:creationId xmlns:a16="http://schemas.microsoft.com/office/drawing/2014/main" id="{B669E064-E7BF-42A5-816A-71C01C8F6341}"/>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1DDCC"/>
                </a:solidFill>
                <a:latin typeface="Arial"/>
                <a:ea typeface="Arial"/>
                <a:cs typeface="Arial"/>
              </a:defRPr>
            </a:pPr>
            <a:r>
              <a:rPr sz="1725" b="0">
                <a:solidFill>
                  <a:srgbClr val="81DDCC"/>
                </a:solidFill>
                <a:latin typeface="Arial"/>
                <a:ea typeface="Arial"/>
                <a:cs typeface="Arial"/>
              </a:rPr>
              <a:t>What costs more in your operating context?</a:t>
            </a:r>
          </a:p>
        </p:txBody>
      </p:sp>
      <p:sp>
        <p:nvSpPr>
          <p:cNvPr id="5" name="">
            <a:extLst xmlns:a="http://schemas.openxmlformats.org/drawingml/2006/main">
              <a:ext uri="{FF2B5EF4-FFF2-40B4-BE49-F238E27FC236}">
                <a16:creationId xmlns:a16="http://schemas.microsoft.com/office/drawing/2014/main" id="{B37D1312-8AAA-4B11-9A32-5ED7FEDF5546}"/>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81DDCC"/>
                </a:solidFill>
                <a:latin typeface="Arial"/>
                <a:ea typeface="Arial"/>
                <a:cs typeface="Arial"/>
              </a:defRPr>
            </a:pPr>
            <a:r>
              <a:rPr sz="1350" b="0">
                <a:solidFill>
                  <a:srgbClr val="81DDCC"/>
                </a:solidFill>
                <a:latin typeface="Arial"/>
                <a:ea typeface="Arial"/>
                <a:cs typeface="Arial"/>
              </a:rPr>
              <a:t>09</a:t>
            </a:r>
          </a:p>
        </p:txBody>
      </p:sp>
    </p:spTree>
    <p:extLst>
      <p:ext uri="{BB962C8B-B14F-4D97-AF65-F5344CB8AC3E}">
        <p14:creationId xmlns:p14="http://schemas.microsoft.com/office/powerpoint/2010/main" val="1691741013"/>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338BDB-4F16-4449-A1F3-AD75309DACF6}"/>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TELL</a:t>
            </a:r>
          </a:p>
        </p:txBody>
      </p:sp>
      <p:sp>
        <p:nvSpPr>
          <p:cNvPr id="2" name="">
            <a:extLst xmlns:a="http://schemas.openxmlformats.org/drawingml/2006/main">
              <a:ext uri="{FF2B5EF4-FFF2-40B4-BE49-F238E27FC236}">
                <a16:creationId xmlns:a16="http://schemas.microsoft.com/office/drawing/2014/main" id="{9F2B628A-D84E-4A7C-9CC5-13B6C4140D56}"/>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The threshold changes the decision</a:t>
            </a:r>
          </a:p>
        </p:txBody>
      </p:sp>
      <p:sp>
        <p:nvSpPr>
          <p:cNvPr id="3" name="">
            <a:extLst xmlns:a="http://schemas.openxmlformats.org/drawingml/2006/main">
              <a:ext uri="{FF2B5EF4-FFF2-40B4-BE49-F238E27FC236}">
                <a16:creationId xmlns:a16="http://schemas.microsoft.com/office/drawing/2014/main" id="{1CE2EA5C-0A13-4126-84C1-5C43D251D16D}"/>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Lower thresholds usually catch more failures</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and create more false alarms</a:t>
            </a:r>
          </a:p>
        </p:txBody>
      </p:sp>
      <p:sp>
        <p:nvSpPr>
          <p:cNvPr id="4" name="">
            <a:extLst xmlns:a="http://schemas.openxmlformats.org/drawingml/2006/main">
              <a:ext uri="{FF2B5EF4-FFF2-40B4-BE49-F238E27FC236}">
                <a16:creationId xmlns:a16="http://schemas.microsoft.com/office/drawing/2014/main" id="{406D8085-F9B1-439C-B371-D57779B303E5}"/>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Teaching cost: missed failure = 10, false alarm = 1</a:t>
            </a:r>
          </a:p>
        </p:txBody>
      </p:sp>
      <p:sp>
        <p:nvSpPr>
          <p:cNvPr id="5" name="">
            <a:extLst xmlns:a="http://schemas.openxmlformats.org/drawingml/2006/main">
              <a:ext uri="{FF2B5EF4-FFF2-40B4-BE49-F238E27FC236}">
                <a16:creationId xmlns:a16="http://schemas.microsoft.com/office/drawing/2014/main" id="{812E2752-B600-4238-8D2A-17C2D8D83ABD}"/>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10</a:t>
            </a:r>
          </a:p>
        </p:txBody>
      </p:sp>
    </p:spTree>
    <p:extLst>
      <p:ext uri="{BB962C8B-B14F-4D97-AF65-F5344CB8AC3E}">
        <p14:creationId xmlns:p14="http://schemas.microsoft.com/office/powerpoint/2010/main" val="1400693536"/>
      </p:ext>
    </p:extLst>
  </p:cSld>
</p:sld>
</file>

<file path=ppt/slides/slide1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9D4851-C79F-4B25-BA7A-7C3D524811FF}"/>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SHOW</a:t>
            </a:r>
          </a:p>
        </p:txBody>
      </p:sp>
      <p:sp>
        <p:nvSpPr>
          <p:cNvPr id="2" name="">
            <a:extLst xmlns:a="http://schemas.openxmlformats.org/drawingml/2006/main">
              <a:ext uri="{FF2B5EF4-FFF2-40B4-BE49-F238E27FC236}">
                <a16:creationId xmlns:a16="http://schemas.microsoft.com/office/drawing/2014/main" id="{798567D4-5A3A-466C-9B18-560EF48B28AB}"/>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One raw input becomes a prediction</a:t>
            </a:r>
          </a:p>
        </p:txBody>
      </p:sp>
      <p:sp>
        <p:nvSpPr>
          <p:cNvPr id="3" name="">
            <a:extLst xmlns:a="http://schemas.openxmlformats.org/drawingml/2006/main">
              <a:ext uri="{FF2B5EF4-FFF2-40B4-BE49-F238E27FC236}">
                <a16:creationId xmlns:a16="http://schemas.microsoft.com/office/drawing/2014/main" id="{C41F17C4-AEFD-4119-BCD8-2AAB72DC924C}"/>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Raw feature values</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Fitted preprocessing and Random Forest</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Failure score and threshold decision</a:t>
            </a:r>
          </a:p>
        </p:txBody>
      </p:sp>
      <p:sp>
        <p:nvSpPr>
          <p:cNvPr id="4" name="">
            <a:extLst xmlns:a="http://schemas.openxmlformats.org/drawingml/2006/main">
              <a:ext uri="{FF2B5EF4-FFF2-40B4-BE49-F238E27FC236}">
                <a16:creationId xmlns:a16="http://schemas.microsoft.com/office/drawing/2014/main" id="{183401D0-10A4-4A39-8FB8-B32EB52B336A}"/>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Demo: reference.ipynb, sections 11–12</a:t>
            </a:r>
          </a:p>
        </p:txBody>
      </p:sp>
      <p:sp>
        <p:nvSpPr>
          <p:cNvPr id="5" name="">
            <a:extLst xmlns:a="http://schemas.openxmlformats.org/drawingml/2006/main">
              <a:ext uri="{FF2B5EF4-FFF2-40B4-BE49-F238E27FC236}">
                <a16:creationId xmlns:a16="http://schemas.microsoft.com/office/drawing/2014/main" id="{6B37752C-35F8-4455-9B69-8F67DC61D9DD}"/>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11</a:t>
            </a:r>
          </a:p>
        </p:txBody>
      </p:sp>
    </p:spTree>
    <p:extLst>
      <p:ext uri="{BB962C8B-B14F-4D97-AF65-F5344CB8AC3E}">
        <p14:creationId xmlns:p14="http://schemas.microsoft.com/office/powerpoint/2010/main" val="446887257"/>
      </p:ext>
    </p:extLst>
  </p:cSld>
</p:sld>
</file>

<file path=ppt/slides/slide12.xml><?xml version="1.0" encoding="utf-8"?>
<p:sld xmlns:p="http://schemas.openxmlformats.org/presentationml/2006/main">
  <p:cSld>
    <p:bg>
      <p:bgPr>
        <a:solidFill xmlns:a="http://schemas.openxmlformats.org/drawingml/2006/main">
          <a:srgbClr val="13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103527-5C37-4523-A3AD-87351B118C76}"/>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1DDCC"/>
                </a:solidFill>
                <a:latin typeface="Arial"/>
                <a:ea typeface="Arial"/>
                <a:cs typeface="Arial"/>
              </a:defRPr>
            </a:pPr>
            <a:r>
              <a:rPr sz="1650" b="1">
                <a:solidFill>
                  <a:srgbClr val="81DDCC"/>
                </a:solidFill>
                <a:latin typeface="Arial"/>
                <a:ea typeface="Arial"/>
                <a:cs typeface="Arial"/>
              </a:rPr>
              <a:t>PAUSE</a:t>
            </a:r>
          </a:p>
        </p:txBody>
      </p:sp>
      <p:sp>
        <p:nvSpPr>
          <p:cNvPr id="2" name="">
            <a:extLst xmlns:a="http://schemas.openxmlformats.org/drawingml/2006/main">
              <a:ext uri="{FF2B5EF4-FFF2-40B4-BE49-F238E27FC236}">
                <a16:creationId xmlns:a16="http://schemas.microsoft.com/office/drawing/2014/main" id="{7D15D8E6-1911-42CE-88FC-5CE000B4E7F1}"/>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Is saving the forest enough?</a:t>
            </a:r>
          </a:p>
        </p:txBody>
      </p:sp>
      <p:sp>
        <p:nvSpPr>
          <p:cNvPr id="3" name="">
            <a:extLst xmlns:a="http://schemas.openxmlformats.org/drawingml/2006/main">
              <a:ext uri="{FF2B5EF4-FFF2-40B4-BE49-F238E27FC236}">
                <a16:creationId xmlns:a16="http://schemas.microsoft.com/office/drawing/2014/main" id="{93465F43-9EF8-4B02-8EBD-10228075CB4D}"/>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What happens to missing values?</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What happens to category encoding?</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Who applies threshold 0.13?</a:t>
            </a:r>
          </a:p>
        </p:txBody>
      </p:sp>
      <p:sp>
        <p:nvSpPr>
          <p:cNvPr id="4" name="">
            <a:extLst xmlns:a="http://schemas.openxmlformats.org/drawingml/2006/main">
              <a:ext uri="{FF2B5EF4-FFF2-40B4-BE49-F238E27FC236}">
                <a16:creationId xmlns:a16="http://schemas.microsoft.com/office/drawing/2014/main" id="{71A8980F-3795-4380-B5DE-957FF8CE38B3}"/>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1DDCC"/>
                </a:solidFill>
                <a:latin typeface="Arial"/>
                <a:ea typeface="Arial"/>
                <a:cs typeface="Arial"/>
              </a:defRPr>
            </a:pPr>
            <a:r>
              <a:rPr sz="1725" b="0">
                <a:solidFill>
                  <a:srgbClr val="81DDCC"/>
                </a:solidFill>
                <a:latin typeface="Arial"/>
                <a:ea typeface="Arial"/>
                <a:cs typeface="Arial"/>
              </a:rPr>
              <a:t>Give the audience 20 seconds before advancing</a:t>
            </a:r>
          </a:p>
        </p:txBody>
      </p:sp>
      <p:sp>
        <p:nvSpPr>
          <p:cNvPr id="5" name="">
            <a:extLst xmlns:a="http://schemas.openxmlformats.org/drawingml/2006/main">
              <a:ext uri="{FF2B5EF4-FFF2-40B4-BE49-F238E27FC236}">
                <a16:creationId xmlns:a16="http://schemas.microsoft.com/office/drawing/2014/main" id="{CD5EF4A8-8DEE-4896-A8A4-B4BEA11589C8}"/>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81DDCC"/>
                </a:solidFill>
                <a:latin typeface="Arial"/>
                <a:ea typeface="Arial"/>
                <a:cs typeface="Arial"/>
              </a:defRPr>
            </a:pPr>
            <a:r>
              <a:rPr sz="1350" b="0">
                <a:solidFill>
                  <a:srgbClr val="81DDCC"/>
                </a:solidFill>
                <a:latin typeface="Arial"/>
                <a:ea typeface="Arial"/>
                <a:cs typeface="Arial"/>
              </a:rPr>
              <a:t>12</a:t>
            </a:r>
          </a:p>
        </p:txBody>
      </p:sp>
    </p:spTree>
    <p:extLst>
      <p:ext uri="{BB962C8B-B14F-4D97-AF65-F5344CB8AC3E}">
        <p14:creationId xmlns:p14="http://schemas.microsoft.com/office/powerpoint/2010/main" val="1870436684"/>
      </p:ext>
    </p:extLst>
  </p:cSld>
</p:sld>
</file>

<file path=ppt/slides/slide1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24530C-A763-4303-AF85-3EBDB954AC03}"/>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TELL</a:t>
            </a:r>
          </a:p>
        </p:txBody>
      </p:sp>
      <p:sp>
        <p:nvSpPr>
          <p:cNvPr id="2" name="">
            <a:extLst xmlns:a="http://schemas.openxmlformats.org/drawingml/2006/main">
              <a:ext uri="{FF2B5EF4-FFF2-40B4-BE49-F238E27FC236}">
                <a16:creationId xmlns:a16="http://schemas.microsoft.com/office/drawing/2014/main" id="{69BED75A-BEBF-4BEC-A141-5AC953B7DEC7}"/>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The handoff contains two artifacts</a:t>
            </a:r>
          </a:p>
        </p:txBody>
      </p:sp>
      <p:sp>
        <p:nvSpPr>
          <p:cNvPr id="3" name="">
            <a:extLst xmlns:a="http://schemas.openxmlformats.org/drawingml/2006/main">
              <a:ext uri="{FF2B5EF4-FFF2-40B4-BE49-F238E27FC236}">
                <a16:creationId xmlns:a16="http://schemas.microsoft.com/office/drawing/2014/main" id="{B6C0113B-8366-4018-A4EF-1273011E92ED}"/>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Fitted pipeline</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Imputers, category vocabulary and classifier</a:t>
            </a:r>
          </a:p>
          <a:p xmlns:a="http://schemas.openxmlformats.org/drawingml/2006/main">
            <a:r>
              <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Application metadata</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Input schema, threshold and package versions</a:t>
            </a:r>
          </a:p>
        </p:txBody>
      </p:sp>
      <p:sp>
        <p:nvSpPr>
          <p:cNvPr id="4" name="">
            <a:extLst xmlns:a="http://schemas.openxmlformats.org/drawingml/2006/main">
              <a:ext uri="{FF2B5EF4-FFF2-40B4-BE49-F238E27FC236}">
                <a16:creationId xmlns:a16="http://schemas.microsoft.com/office/drawing/2014/main" id="{97ECBD70-BF52-464E-9E54-464E41A6709B}"/>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The application applies the saved threshold to predict_proba.</a:t>
            </a:r>
          </a:p>
        </p:txBody>
      </p:sp>
      <p:sp>
        <p:nvSpPr>
          <p:cNvPr id="5" name="">
            <a:extLst xmlns:a="http://schemas.openxmlformats.org/drawingml/2006/main">
              <a:ext uri="{FF2B5EF4-FFF2-40B4-BE49-F238E27FC236}">
                <a16:creationId xmlns:a16="http://schemas.microsoft.com/office/drawing/2014/main" id="{7D716150-EC3F-4E57-BA02-8928526D86BF}"/>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13</a:t>
            </a:r>
          </a:p>
        </p:txBody>
      </p:sp>
    </p:spTree>
    <p:extLst>
      <p:ext uri="{BB962C8B-B14F-4D97-AF65-F5344CB8AC3E}">
        <p14:creationId xmlns:p14="http://schemas.microsoft.com/office/powerpoint/2010/main" val="2101874704"/>
      </p:ext>
    </p:extLst>
  </p:cSld>
</p:sld>
</file>

<file path=ppt/slides/slide1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E64DFC-F652-469D-832F-209626227CC5}"/>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SHOW</a:t>
            </a:r>
          </a:p>
        </p:txBody>
      </p:sp>
      <p:sp>
        <p:nvSpPr>
          <p:cNvPr id="2" name="">
            <a:extLst xmlns:a="http://schemas.openxmlformats.org/drawingml/2006/main">
              <a:ext uri="{FF2B5EF4-FFF2-40B4-BE49-F238E27FC236}">
                <a16:creationId xmlns:a16="http://schemas.microsoft.com/office/drawing/2014/main" id="{A77B3DDC-F589-48E9-86FA-57E8849682FF}"/>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The same pipeline consumes Kafka events</a:t>
            </a:r>
          </a:p>
        </p:txBody>
      </p:sp>
      <p:sp>
        <p:nvSpPr>
          <p:cNvPr id="3" name="">
            <a:extLst xmlns:a="http://schemas.openxmlformats.org/drawingml/2006/main">
              <a:ext uri="{FF2B5EF4-FFF2-40B4-BE49-F238E27FC236}">
                <a16:creationId xmlns:a16="http://schemas.microsoft.com/office/drawing/2014/main" id="{EE4A7CFB-72FE-4906-B975-4E212BFE6849}"/>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Producer sends labeled test observations</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Kafka carries events on machine.telemetry</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Consumer scores features and prints metrics</a:t>
            </a:r>
          </a:p>
        </p:txBody>
      </p:sp>
      <p:sp>
        <p:nvSpPr>
          <p:cNvPr id="4" name="">
            <a:extLst xmlns:a="http://schemas.openxmlformats.org/drawingml/2006/main">
              <a:ext uri="{FF2B5EF4-FFF2-40B4-BE49-F238E27FC236}">
                <a16:creationId xmlns:a16="http://schemas.microsoft.com/office/drawing/2014/main" id="{7FB7FCA0-DECD-46AD-ABA5-82E9265F07DB}"/>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Demo: producer and consumer terminals</a:t>
            </a:r>
          </a:p>
        </p:txBody>
      </p:sp>
      <p:sp>
        <p:nvSpPr>
          <p:cNvPr id="5" name="">
            <a:extLst xmlns:a="http://schemas.openxmlformats.org/drawingml/2006/main">
              <a:ext uri="{FF2B5EF4-FFF2-40B4-BE49-F238E27FC236}">
                <a16:creationId xmlns:a16="http://schemas.microsoft.com/office/drawing/2014/main" id="{8D697C66-09AB-431D-A042-2B7B9621BA4F}"/>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14</a:t>
            </a:r>
          </a:p>
        </p:txBody>
      </p:sp>
    </p:spTree>
    <p:extLst>
      <p:ext uri="{BB962C8B-B14F-4D97-AF65-F5344CB8AC3E}">
        <p14:creationId xmlns:p14="http://schemas.microsoft.com/office/powerpoint/2010/main" val="105470248"/>
      </p:ext>
    </p:extLst>
  </p:cSld>
</p:sld>
</file>

<file path=ppt/slides/slide15.xml><?xml version="1.0" encoding="utf-8"?>
<p:sld xmlns:p="http://schemas.openxmlformats.org/presentationml/2006/main">
  <p:cSld>
    <p:bg>
      <p:bgPr>
        <a:solidFill xmlns:a="http://schemas.openxmlformats.org/drawingml/2006/main">
          <a:srgbClr val="13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0FC70E-84FE-46E5-ADE2-2E48FCECB1B2}"/>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1DDCC"/>
                </a:solidFill>
                <a:latin typeface="Arial"/>
                <a:ea typeface="Arial"/>
                <a:cs typeface="Arial"/>
              </a:defRPr>
            </a:pPr>
            <a:r>
              <a:rPr sz="1650" b="1">
                <a:solidFill>
                  <a:srgbClr val="81DDCC"/>
                </a:solidFill>
                <a:latin typeface="Arial"/>
                <a:ea typeface="Arial"/>
                <a:cs typeface="Arial"/>
              </a:rPr>
              <a:t>PAUSE</a:t>
            </a:r>
          </a:p>
        </p:txBody>
      </p:sp>
      <p:sp>
        <p:nvSpPr>
          <p:cNvPr id="2" name="">
            <a:extLst xmlns:a="http://schemas.openxmlformats.org/drawingml/2006/main">
              <a:ext uri="{FF2B5EF4-FFF2-40B4-BE49-F238E27FC236}">
                <a16:creationId xmlns:a16="http://schemas.microsoft.com/office/drawing/2014/main" id="{3AB5548C-44F7-42FC-95A2-176CFDAC829F}"/>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Where does live accuracy come from?</a:t>
            </a:r>
          </a:p>
        </p:txBody>
      </p:sp>
      <p:sp>
        <p:nvSpPr>
          <p:cNvPr id="3" name="">
            <a:extLst xmlns:a="http://schemas.openxmlformats.org/drawingml/2006/main">
              <a:ext uri="{FF2B5EF4-FFF2-40B4-BE49-F238E27FC236}">
                <a16:creationId xmlns:a16="http://schemas.microsoft.com/office/drawing/2014/main" id="{B9833B40-267E-4A77-B001-1A0A8216747F}"/>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The event contains features and an actual label.</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Which one is allowed into the model?</a:t>
            </a:r>
          </a:p>
        </p:txBody>
      </p:sp>
      <p:sp>
        <p:nvSpPr>
          <p:cNvPr id="4" name="">
            <a:extLst xmlns:a="http://schemas.openxmlformats.org/drawingml/2006/main">
              <a:ext uri="{FF2B5EF4-FFF2-40B4-BE49-F238E27FC236}">
                <a16:creationId xmlns:a16="http://schemas.microsoft.com/office/drawing/2014/main" id="{FC798E65-AC11-4172-A376-37FA2568AD3C}"/>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1DDCC"/>
                </a:solidFill>
                <a:latin typeface="Arial"/>
                <a:ea typeface="Arial"/>
                <a:cs typeface="Arial"/>
              </a:defRPr>
            </a:pPr>
            <a:r>
              <a:rPr sz="1725" b="0">
                <a:solidFill>
                  <a:srgbClr val="81DDCC"/>
                </a:solidFill>
                <a:latin typeface="Arial"/>
                <a:ea typeface="Arial"/>
                <a:cs typeface="Arial"/>
              </a:rPr>
              <a:t>Would a real machine provide an immediate verified outcome?</a:t>
            </a:r>
          </a:p>
        </p:txBody>
      </p:sp>
      <p:sp>
        <p:nvSpPr>
          <p:cNvPr id="5" name="">
            <a:extLst xmlns:a="http://schemas.openxmlformats.org/drawingml/2006/main">
              <a:ext uri="{FF2B5EF4-FFF2-40B4-BE49-F238E27FC236}">
                <a16:creationId xmlns:a16="http://schemas.microsoft.com/office/drawing/2014/main" id="{D5EDC983-DBF3-44D1-991F-1984CD6B2B71}"/>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81DDCC"/>
                </a:solidFill>
                <a:latin typeface="Arial"/>
                <a:ea typeface="Arial"/>
                <a:cs typeface="Arial"/>
              </a:defRPr>
            </a:pPr>
            <a:r>
              <a:rPr sz="1350" b="0">
                <a:solidFill>
                  <a:srgbClr val="81DDCC"/>
                </a:solidFill>
                <a:latin typeface="Arial"/>
                <a:ea typeface="Arial"/>
                <a:cs typeface="Arial"/>
              </a:rPr>
              <a:t>15</a:t>
            </a:r>
          </a:p>
        </p:txBody>
      </p:sp>
    </p:spTree>
    <p:extLst>
      <p:ext uri="{BB962C8B-B14F-4D97-AF65-F5344CB8AC3E}">
        <p14:creationId xmlns:p14="http://schemas.microsoft.com/office/powerpoint/2010/main" val="1804791328"/>
      </p:ext>
    </p:extLst>
  </p:cSld>
</p:sld>
</file>

<file path=ppt/slides/slide1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871C63-F252-48E4-A659-1AD6BB5B5FB3}"/>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TELL</a:t>
            </a:r>
          </a:p>
        </p:txBody>
      </p:sp>
      <p:sp>
        <p:nvSpPr>
          <p:cNvPr id="2" name="">
            <a:extLst xmlns:a="http://schemas.openxmlformats.org/drawingml/2006/main">
              <a:ext uri="{FF2B5EF4-FFF2-40B4-BE49-F238E27FC236}">
                <a16:creationId xmlns:a16="http://schemas.microsoft.com/office/drawing/2014/main" id="{D6C57DEE-F72E-4058-A66A-7835D20FF405}"/>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Streaming changes delivery</a:t>
            </a:r>
          </a:p>
        </p:txBody>
      </p:sp>
      <p:sp>
        <p:nvSpPr>
          <p:cNvPr id="3" name="">
            <a:extLst xmlns:a="http://schemas.openxmlformats.org/drawingml/2006/main">
              <a:ext uri="{FF2B5EF4-FFF2-40B4-BE49-F238E27FC236}">
                <a16:creationId xmlns:a16="http://schemas.microsoft.com/office/drawing/2014/main" id="{E13D0EA3-C78F-42FC-8F80-CE5B1AB814A0}"/>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Only allowlisted features reach the pipeline</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Actual labels serve scoring only</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Repeated test rows add no new validation evidence</a:t>
            </a:r>
          </a:p>
        </p:txBody>
      </p:sp>
      <p:sp>
        <p:nvSpPr>
          <p:cNvPr id="4" name="">
            <a:extLst xmlns:a="http://schemas.openxmlformats.org/drawingml/2006/main">
              <a:ext uri="{FF2B5EF4-FFF2-40B4-BE49-F238E27FC236}">
                <a16:creationId xmlns:a16="http://schemas.microsoft.com/office/drawing/2014/main" id="{3472CDEC-8EC3-42EC-9735-690E5705F6F3}"/>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Real accuracy needs later verified outcomes.</a:t>
            </a:r>
          </a:p>
        </p:txBody>
      </p:sp>
      <p:sp>
        <p:nvSpPr>
          <p:cNvPr id="5" name="">
            <a:extLst xmlns:a="http://schemas.openxmlformats.org/drawingml/2006/main">
              <a:ext uri="{FF2B5EF4-FFF2-40B4-BE49-F238E27FC236}">
                <a16:creationId xmlns:a16="http://schemas.microsoft.com/office/drawing/2014/main" id="{3F747B73-5562-4C10-ABCF-5B23516088A9}"/>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16</a:t>
            </a:r>
          </a:p>
        </p:txBody>
      </p:sp>
    </p:spTree>
    <p:extLst>
      <p:ext uri="{BB962C8B-B14F-4D97-AF65-F5344CB8AC3E}">
        <p14:creationId xmlns:p14="http://schemas.microsoft.com/office/powerpoint/2010/main" val="470252790"/>
      </p:ext>
    </p:extLst>
  </p:cSld>
</p:sld>
</file>

<file path=ppt/slides/slide1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D0944A-5D00-4824-B1F0-B395DD6ED4D1}"/>
              </a:ext>
            </a:extLst>
          </p:cNvPr>
          <p:cNvSpPr>
            <a:spLocks xmlns:a="http://schemas.openxmlformats.org/drawingml/2006/main" noGrp="1"/>
          </p:cNvSpPr>
          <p:nvPr/>
        </p:nvSpPr>
        <p:spPr>
          <a:xfrm xmlns:a="http://schemas.openxmlformats.org/drawingml/2006/main">
            <a:off x="685800" y="457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96B"/>
                </a:solidFill>
                <a:latin typeface="Arial"/>
                <a:ea typeface="Arial"/>
                <a:cs typeface="Arial"/>
              </a:defRPr>
            </a:pPr>
            <a:r>
              <a:rPr sz="1650" b="1">
                <a:solidFill>
                  <a:srgbClr val="16796B"/>
                </a:solidFill>
                <a:latin typeface="Arial"/>
                <a:ea typeface="Arial"/>
                <a:cs typeface="Arial"/>
              </a:rPr>
              <a:t>DISCUSS</a:t>
            </a:r>
          </a:p>
        </p:txBody>
      </p:sp>
      <p:sp>
        <p:nvSpPr>
          <p:cNvPr id="2" name="">
            <a:extLst xmlns:a="http://schemas.openxmlformats.org/drawingml/2006/main">
              <a:ext uri="{FF2B5EF4-FFF2-40B4-BE49-F238E27FC236}">
                <a16:creationId xmlns:a16="http://schemas.microsoft.com/office/drawing/2014/main" id="{7627DD52-9F98-48C2-BB4D-8953F9CF77FE}"/>
              </a:ext>
            </a:extLst>
          </p:cNvPr>
          <p:cNvSpPr>
            <a:spLocks xmlns:a="http://schemas.openxmlformats.org/drawingml/2006/main" noGrp="1"/>
          </p:cNvSpPr>
          <p:nvPr/>
        </p:nvSpPr>
        <p:spPr>
          <a:xfrm xmlns:a="http://schemas.openxmlformats.org/drawingml/2006/main">
            <a:off x="685800" y="11239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B36"/>
                </a:solidFill>
                <a:latin typeface="Arial"/>
                <a:ea typeface="Arial"/>
                <a:cs typeface="Arial"/>
              </a:defRPr>
            </a:pPr>
            <a:r>
              <a:rPr sz="3600" b="1">
                <a:solidFill>
                  <a:srgbClr val="132B36"/>
                </a:solidFill>
                <a:latin typeface="Arial"/>
                <a:ea typeface="Arial"/>
                <a:cs typeface="Arial"/>
              </a:rPr>
              <a:t>The next person can explain the system</a:t>
            </a:r>
          </a:p>
        </p:txBody>
      </p:sp>
      <p:sp>
        <p:nvSpPr>
          <p:cNvPr id="3" name="">
            <a:extLst xmlns:a="http://schemas.openxmlformats.org/drawingml/2006/main">
              <a:ext uri="{FF2B5EF4-FFF2-40B4-BE49-F238E27FC236}">
                <a16:creationId xmlns:a16="http://schemas.microsoft.com/office/drawing/2014/main" id="{1F6E8C94-FCB0-48E9-8FFF-CCE560EE75EB}"/>
              </a:ext>
            </a:extLst>
          </p:cNvPr>
          <p:cNvSpPr>
            <a:spLocks xmlns:a="http://schemas.openxmlformats.org/drawingml/2006/main" noGrp="1"/>
          </p:cNvSpPr>
          <p:nvPr/>
        </p:nvSpPr>
        <p:spPr>
          <a:xfrm xmlns:a="http://schemas.openxmlformats.org/drawingml/2006/main">
            <a:off x="685800" y="2647950"/>
            <a:ext cx="10763250" cy="2647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Which inputs are legitimate?</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What evidence supports generalization?</a:t>
            </a:r>
          </a:p>
          <a:p xmlns:a="http://schemas.openxmlformats.org/drawingml/2006/main">
            <a:pPr>
              <a:defRPr sz="3000" b="0">
                <a:solidFill>
                  <a:srgbClr val="132B36"/>
                </a:solidFill>
                <a:latin typeface="Arial"/>
                <a:ea typeface="Arial"/>
                <a:cs typeface="Arial"/>
              </a:defRPr>
            </a:pPr>
            <a:r>
              <a:rPr sz="3000" b="0">
                <a:solidFill>
                  <a:srgbClr val="132B36"/>
                </a:solidFill>
                <a:latin typeface="Arial"/>
                <a:ea typeface="Arial"/>
                <a:cs typeface="Arial"/>
              </a:rPr>
              <a:t>What must stay identical at inference?</a:t>
            </a:r>
          </a:p>
        </p:txBody>
      </p:sp>
      <p:sp>
        <p:nvSpPr>
          <p:cNvPr id="4" name="">
            <a:extLst xmlns:a="http://schemas.openxmlformats.org/drawingml/2006/main">
              <a:ext uri="{FF2B5EF4-FFF2-40B4-BE49-F238E27FC236}">
                <a16:creationId xmlns:a16="http://schemas.microsoft.com/office/drawing/2014/main" id="{D420EAA5-2DB2-430D-8B42-365D6791A5C9}"/>
              </a:ext>
            </a:extLst>
          </p:cNvPr>
          <p:cNvSpPr>
            <a:spLocks xmlns:a="http://schemas.openxmlformats.org/drawingml/2006/main" noGrp="1"/>
          </p:cNvSpPr>
          <p:nvPr/>
        </p:nvSpPr>
        <p:spPr>
          <a:xfrm xmlns:a="http://schemas.openxmlformats.org/drawingml/2006/main">
            <a:off x="685800" y="57816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6796B"/>
                </a:solidFill>
                <a:latin typeface="Arial"/>
                <a:ea typeface="Arial"/>
                <a:cs typeface="Arial"/>
              </a:defRPr>
            </a:pPr>
            <a:r>
              <a:rPr sz="1725" b="0">
                <a:solidFill>
                  <a:srgbClr val="16796B"/>
                </a:solidFill>
                <a:latin typeface="Arial"/>
                <a:ea typeface="Arial"/>
                <a:cs typeface="Arial"/>
              </a:rPr>
              <a:t>The model, preprocessing, threshold and Kafka have different jobs.</a:t>
            </a:r>
          </a:p>
        </p:txBody>
      </p:sp>
      <p:sp>
        <p:nvSpPr>
          <p:cNvPr id="5" name="">
            <a:extLst xmlns:a="http://schemas.openxmlformats.org/drawingml/2006/main">
              <a:ext uri="{FF2B5EF4-FFF2-40B4-BE49-F238E27FC236}">
                <a16:creationId xmlns:a16="http://schemas.microsoft.com/office/drawing/2014/main" id="{45815EF2-F7C4-4782-A8C2-D0B5B271B057}"/>
              </a:ext>
            </a:extLst>
          </p:cNvPr>
          <p:cNvSpPr>
            <a:spLocks xmlns:a="http://schemas.openxmlformats.org/drawingml/2006/main" noGrp="1"/>
          </p:cNvSpPr>
          <p:nvPr/>
        </p:nvSpPr>
        <p:spPr>
          <a:xfrm xmlns:a="http://schemas.openxmlformats.org/drawingml/2006/main">
            <a:off x="11334750" y="62198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17</a:t>
            </a:r>
          </a:p>
        </p:txBody>
      </p:sp>
    </p:spTree>
    <p:extLst>
      <p:ext uri="{BB962C8B-B14F-4D97-AF65-F5344CB8AC3E}">
        <p14:creationId xmlns:p14="http://schemas.microsoft.com/office/powerpoint/2010/main" val="1226394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2026-09-29T12:52:18.0830000Z</dcterms:created>
  <dcterms:modified xsi:type="dcterms:W3CDTF">2026-09-29T12:52:18.0830000Z</dcterms:modified>
</coreProperties>
</file>