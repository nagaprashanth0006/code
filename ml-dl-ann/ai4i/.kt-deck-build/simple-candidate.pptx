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e5d168dd3340d4" /><Relationship Type="http://schemas.openxmlformats.org/officeDocument/2006/relationships/extended-properties" Target="/docProps/app.xml" Id="R0c4fab50a09c4fb6" /><Relationship Type="http://schemas.openxmlformats.org/officeDocument/2006/relationships/officeDocument" Target="/ppt/presentation.xml" Id="R9b7b8af9a5094544" /></Relationships>
</file>

<file path=ppt/presentation.xml><?xml version="1.0" encoding="utf-8"?>
<p:presentation xmlns:p="http://schemas.openxmlformats.org/presentationml/2006/main">
  <p:sldMasterIdLst>
    <p:sldMasterId xmlns:r="http://schemas.openxmlformats.org/officeDocument/2006/relationships" id="2147483648" r:id="Re2a7d356033b4735"/>
  </p:sldMasterIdLst>
  <p:notesMasterIdLst>
    <p:notesMasterId xmlns:r="http://schemas.openxmlformats.org/officeDocument/2006/relationships" r:id="Rd5c1dcc394404f2d"/>
  </p:notesMasterIdLst>
  <p:sldIdLst>
    <p:sldId xmlns:r="http://schemas.openxmlformats.org/officeDocument/2006/relationships" id="256" r:id="Re326fe05ed8d4d90"/>
    <p:sldId xmlns:r="http://schemas.openxmlformats.org/officeDocument/2006/relationships" id="257" r:id="R94274f8f33d84e5d"/>
    <p:sldId xmlns:r="http://schemas.openxmlformats.org/officeDocument/2006/relationships" id="258" r:id="Rf6e7db2aa6f441d7"/>
    <p:sldId xmlns:r="http://schemas.openxmlformats.org/officeDocument/2006/relationships" id="259" r:id="R0877a29493f4460e"/>
    <p:sldId xmlns:r="http://schemas.openxmlformats.org/officeDocument/2006/relationships" id="260" r:id="R6e06f3ac9ee24f13"/>
    <p:sldId xmlns:r="http://schemas.openxmlformats.org/officeDocument/2006/relationships" id="261" r:id="R7bcc1c59589445bb"/>
    <p:sldId xmlns:r="http://schemas.openxmlformats.org/officeDocument/2006/relationships" id="262" r:id="R62119009c71b4310"/>
    <p:sldId xmlns:r="http://schemas.openxmlformats.org/officeDocument/2006/relationships" id="263" r:id="R405ddc2b6c864b48"/>
    <p:sldId xmlns:r="http://schemas.openxmlformats.org/officeDocument/2006/relationships" id="264" r:id="R048710402b694619"/>
    <p:sldId xmlns:r="http://schemas.openxmlformats.org/officeDocument/2006/relationships" id="265" r:id="Rbdc7337da99842a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e82295a82434a9e" /><Relationship Type="http://schemas.openxmlformats.org/officeDocument/2006/relationships/slideMaster" Target="/ppt/slideMasters/slideMaster1.xml" Id="Re2a7d356033b4735" /><Relationship Type="http://schemas.openxmlformats.org/officeDocument/2006/relationships/notesMaster" Target="/ppt/notesMasters/notesMaster1.xml" Id="Rd5c1dcc394404f2d" /><Relationship Type="http://schemas.openxmlformats.org/officeDocument/2006/relationships/presProps" Target="/ppt/presProps.xml" Id="Rdb01907c989f4c55" /><Relationship Type="http://schemas.openxmlformats.org/officeDocument/2006/relationships/tableStyles" Target="/ppt/tableStyles.xml" Id="Rcb8bdd12abcb41e0" /><Relationship Type="http://schemas.openxmlformats.org/officeDocument/2006/relationships/slide" Target="/ppt/slides/slide1.xml" Id="Re326fe05ed8d4d90" /><Relationship Type="http://schemas.openxmlformats.org/officeDocument/2006/relationships/slide" Target="/ppt/slides/slide2.xml" Id="R94274f8f33d84e5d" /><Relationship Type="http://schemas.openxmlformats.org/officeDocument/2006/relationships/slide" Target="/ppt/slides/slide3.xml" Id="Rf6e7db2aa6f441d7" /><Relationship Type="http://schemas.openxmlformats.org/officeDocument/2006/relationships/slide" Target="/ppt/slides/slide4.xml" Id="R0877a29493f4460e" /><Relationship Type="http://schemas.openxmlformats.org/officeDocument/2006/relationships/slide" Target="/ppt/slides/slide5.xml" Id="R6e06f3ac9ee24f13" /><Relationship Type="http://schemas.openxmlformats.org/officeDocument/2006/relationships/slide" Target="/ppt/slides/slide6.xml" Id="R7bcc1c59589445bb" /><Relationship Type="http://schemas.openxmlformats.org/officeDocument/2006/relationships/slide" Target="/ppt/slides/slide7.xml" Id="R62119009c71b4310" /><Relationship Type="http://schemas.openxmlformats.org/officeDocument/2006/relationships/slide" Target="/ppt/slides/slide8.xml" Id="R405ddc2b6c864b48" /><Relationship Type="http://schemas.openxmlformats.org/officeDocument/2006/relationships/slide" Target="/ppt/slides/slide9.xml" Id="R048710402b694619" /><Relationship Type="http://schemas.openxmlformats.org/officeDocument/2006/relationships/slide" Target="/ppt/slides/slide10.xml" Id="Rbdc7337da99842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a7646d863614f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d138c0a5214a3a" /><Relationship Type="http://schemas.openxmlformats.org/officeDocument/2006/relationships/notesMaster" Target="/ppt/notesMasters/notesMaster1.xml" Id="Reba3ae300f3641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4ee20f53b3496e" /><Relationship Type="http://schemas.openxmlformats.org/officeDocument/2006/relationships/notesMaster" Target="/ppt/notesMasters/notesMaster1.xml" Id="R2daab217a6ba44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acc7b3eca94979" /><Relationship Type="http://schemas.openxmlformats.org/officeDocument/2006/relationships/notesMaster" Target="/ppt/notesMasters/notesMaster1.xml" Id="R0a9e854295dd4d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06b81d875f4c7c" /><Relationship Type="http://schemas.openxmlformats.org/officeDocument/2006/relationships/notesMaster" Target="/ppt/notesMasters/notesMaster1.xml" Id="R8d562fc06bff4f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c042e5e2834e6c" /><Relationship Type="http://schemas.openxmlformats.org/officeDocument/2006/relationships/notesMaster" Target="/ppt/notesMasters/notesMaster1.xml" Id="R7af2f1123c2743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cc731e6e1745ed" /><Relationship Type="http://schemas.openxmlformats.org/officeDocument/2006/relationships/notesMaster" Target="/ppt/notesMasters/notesMaster1.xml" Id="Rc0e91849ea0240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ae372b187d4a17" /><Relationship Type="http://schemas.openxmlformats.org/officeDocument/2006/relationships/notesMaster" Target="/ppt/notesMasters/notesMaster1.xml" Id="R9aa6d1351fdf47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e99ccd909f41e7" /><Relationship Type="http://schemas.openxmlformats.org/officeDocument/2006/relationships/notesMaster" Target="/ppt/notesMasters/notesMaster1.xml" Id="R6a1acd2465a94e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0af86b5cbf4c07" /><Relationship Type="http://schemas.openxmlformats.org/officeDocument/2006/relationships/notesMaster" Target="/ppt/notesMasters/notesMaster1.xml" Id="Rfed354effd4e4e7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e8737fc600f48a0" /><Relationship Type="http://schemas.openxmlformats.org/officeDocument/2006/relationships/notesMaster" Target="/ppt/notesMasters/notesMaster1.xml" Id="R13c11cba6f954e1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use the notebook to understand the data and train a model. Then we will switch to Kafka to see predictions arrive as messages. Finally, we will look at how an AI assistant could call the same model. Allow about 40 minutes for the notebook, 12 for Kafka and 8 for the assistant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notebook sections 3–11. Start with the raw data and check it. Split it before learning how to fill missing values or encode categories. Train a few models. Use validation data to choose the model and alert cutoff. Use test data only after those choices are fixed. Save the full set of steps, called a pipeline, so new readings get the same treatment. Source: src/reference.ipynb.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a few rows in notebook sections 2–4. Each row contains machine readings and a label saying whether it shows a failure. There are 10,000 rows and 339 failures. Both AI4I and our added fields are simulated teaching data. We are checking the current state, not predicting a failure minutes into the future. Sources: data/ai4i2020.csv; data/processed/ai4i_plus.csv. Original dataset: UCI AI4I 2020, DOI 10.24432/C5HS5C, CC BY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feature is an input the model uses. We keep six numeric readings and one category, product type. Air and process temperatures use kelvin. Torque describes twisting force. Tool wear is measured in minutes. Vibration RMS summarizes vibration strength and is simulated here. Leave out the answer and anything recorded after a failure. IDs and unused extra fields stay out too. Ask: would we know this value when making a prediction? We have few inputs, so there is no need to compress them using PCA. Sources: src/reference.ipynb section 5; artifacts/machine_failure_metadata.json.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dummy model always says normal. It shows why accuracy can look good when failures are rare. The small tree uses a short set of rules we can explain. Random Forest combines many trees and can find patterns involving several readings together. Compare results on training and validation rows. If training results are much better, the model may be memorizing details that do not carry over. The deep tree in the notebook demonstrates this. Source: src/reference.ipynb section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 that the expected columns exist, labels make sense, numbers are valid, and missing or repeated rows are understood. These are checks to discuss; the notebook does not have an assertion for every item. Split into 6,000 training rows, 2,000 validation rows and 2,000 test rows. Check that no row appears in more than one group. Stratification means keeping a similar share of failures in each group. Seed 42 makes this random split repeatable. Learn data-preparation settings only from training rows. Source: src/reference.ipynb sections 4–6 and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notebook sections 6–10. Fill missing numbers with the middle training value, called the median. Fill missing categories with the most common training category, then turn categories into numeric inputs. Train each model and compare validation results. For this example, assume a missed failure costs 10 units and a false alarm costs 1. These are teaching assumptions. They lead to the saved cutoff of 0.13. Keep the model and cutoff fixed when checking the test rows. Save the preparation steps, model, input list, cutoff and package versions. Sources: src/reference.ipynb; artifacts/machine_failure_metadata.json.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asks: how many real failures did we catch? We caught 60 out of 68, or 88.2%. Precision asks: how many alerts were correct? 60 out of 190, or 31.6%. We missed 8 failures and raised 130 false alarms. Accuracy is the share of all predictions that were correct. F1 combines precision and recall in one score. Average precision and ROC-AUC summarize how well scores separate failures from normal rows across different cutoffs. Average precision is not the same calculation as area under the precision-recall curve. These are the saved test results. Always saying normal would give 96.6% accuracy but catch no failures. Sources: artifacts/machine_failure_metadata.json; local/STREAMING.md.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to the terminals. Start Kafka and create the topic using local/STREAMING.md if needed. Use the Python environment that matches the saved model. The producer sends test rows. Kafka carries them. The consumer runs the saved model and prints the result. The model uses only machine readings. The known answer is included separately so the demo can check predictions. Repeating these rows does not give new evidence about model quality. Missing sensor values are filled and flagged. Invalid values are skipped. Real machines usually need a later confirmed outcome before we can check a prediction. Sources: src/producer.py; src/consumer.py; local/STREAMING.md.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application. The user supplies a question and machine readings. The AI assistant knows the prediction tool and the inputs it needs. It chooses that tool. The app checks the inputs and runs the saved model with its settings. The tool returns the score, prediction, cutoff and any warnings. The assistant uses that result to explain the answer. The app also includes the original tool output unchanged. The assistant must not invent readings or change the prediction. If the input or tool fails, ask for details or show an error. DAG means directed acyclic graph: the steps and arrows show one request moving forward without a loop. Kafka is used in the earlier demo; this direct tool call does not need Kafka.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659bacdc7043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656117d26f44a9" /><Relationship Type="http://schemas.openxmlformats.org/officeDocument/2006/relationships/slideLayout" Target="/ppt/slideLayouts/slideLayout1.xml" Id="R447eaf9a6e1746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7eaf9a6e1746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d674643341c4c2f" /><Relationship Type="http://schemas.openxmlformats.org/officeDocument/2006/relationships/notesSlide" Target="/ppt/notesSlides/notesSlide1.xml" Id="R626d3d9262a843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88683926072459e" /><Relationship Type="http://schemas.openxmlformats.org/officeDocument/2006/relationships/notesSlide" Target="/ppt/notesSlides/notesSlide2.xml" Id="R1f5c1e2bf67b4e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941446e1a054aad" /><Relationship Type="http://schemas.openxmlformats.org/officeDocument/2006/relationships/notesSlide" Target="/ppt/notesSlides/notesSlide3.xml" Id="Rd7111bca4847456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9a43ce894f948a3" /><Relationship Type="http://schemas.openxmlformats.org/officeDocument/2006/relationships/notesSlide" Target="/ppt/notesSlides/notesSlide4.xml" Id="R81acd42d78e845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362169a9f504d9d" /><Relationship Type="http://schemas.openxmlformats.org/officeDocument/2006/relationships/notesSlide" Target="/ppt/notesSlides/notesSlide5.xml" Id="R7850adf925054c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e1d55d49f0541f7" /><Relationship Type="http://schemas.openxmlformats.org/officeDocument/2006/relationships/notesSlide" Target="/ppt/notesSlides/notesSlide6.xml" Id="R34993811dfdf47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689bbd0b85946e2" /><Relationship Type="http://schemas.openxmlformats.org/officeDocument/2006/relationships/notesSlide" Target="/ppt/notesSlides/notesSlide7.xml" Id="R804c1dc619c2463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3f7142f173e484f" /><Relationship Type="http://schemas.openxmlformats.org/officeDocument/2006/relationships/notesSlide" Target="/ppt/notesSlides/notesSlide8.xml" Id="Rd70a1edf9dc241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4cc48836b1e4efa" /><Relationship Type="http://schemas.openxmlformats.org/officeDocument/2006/relationships/notesSlide" Target="/ppt/notesSlides/notesSlide9.xml" Id="Rbee702442a5540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ce652c57c984d52" /><Relationship Type="http://schemas.openxmlformats.org/officeDocument/2006/relationships/notesSlide" Target="/ppt/notesSlides/notesSlide10.xml" Id="R7571880a01854c5c" /></Relationships>
</file>

<file path=ppt/slides/slide1.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A350DF5-E72E-4B84-9A29-DC2B6387A5B9}"/>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Agenda</a:t>
            </a:r>
          </a:p>
        </p:txBody>
      </p:sp>
      <p:sp>
        <p:nvSpPr>
          <p:cNvPr id="2" name="">
            <a:extLst xmlns:a="http://schemas.openxmlformats.org/drawingml/2006/main">
              <a:ext uri="{FF2B5EF4-FFF2-40B4-BE49-F238E27FC236}">
                <a16:creationId xmlns:a16="http://schemas.microsoft.com/office/drawing/2014/main" id="{C24B2C6B-C4C2-421A-A965-E78BF8CAF4FF}"/>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2C914395-C441-4F57-A074-C713F4114F29}"/>
              </a:ext>
            </a:extLst>
          </p:cNvPr>
          <p:cNvSpPr>
            <a:spLocks xmlns:a="http://schemas.openxmlformats.org/drawingml/2006/main" noGrp="1"/>
          </p:cNvSpPr>
          <p:nvPr/>
        </p:nvSpPr>
        <p:spPr>
          <a:xfrm xmlns:a="http://schemas.openxmlformats.org/drawingml/2006/main">
            <a:off x="714375" y="1809750"/>
            <a:ext cx="10668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32B36"/>
                </a:solidFill>
                <a:latin typeface="Arial"/>
                <a:ea typeface="Arial"/>
                <a:cs typeface="Arial"/>
              </a:defRPr>
            </a:pPr>
            <a:r>
              <a:rPr sz="2625" b="0">
                <a:solidFill>
                  <a:srgbClr val="132B36"/>
                </a:solidFill>
                <a:latin typeface="Arial"/>
                <a:ea typeface="Arial"/>
                <a:cs typeface="Arial"/>
              </a:rPr>
              <a:t>01   Understand the data and choose inputs</a:t>
            </a:r>
          </a:p>
          <a:p xmlns:a="http://schemas.openxmlformats.org/drawingml/2006/main">
            <a:pPr>
              <a:defRPr sz="2625" b="0">
                <a:solidFill>
                  <a:srgbClr val="132B36"/>
                </a:solidFill>
                <a:latin typeface="Arial"/>
                <a:ea typeface="Arial"/>
                <a:cs typeface="Arial"/>
              </a:defRPr>
            </a:pPr>
            <a:r>
              <a:rPr sz="2625" b="0">
                <a:solidFill>
                  <a:srgbClr val="132B36"/>
                </a:solidFill>
                <a:latin typeface="Arial"/>
                <a:ea typeface="Arial"/>
                <a:cs typeface="Arial"/>
              </a:rPr>
              <a:t>02   Choose a model and check the data</a:t>
            </a:r>
          </a:p>
          <a:p xmlns:a="http://schemas.openxmlformats.org/drawingml/2006/main">
            <a:pPr>
              <a:defRPr sz="2625" b="0">
                <a:solidFill>
                  <a:srgbClr val="132B36"/>
                </a:solidFill>
                <a:latin typeface="Arial"/>
                <a:ea typeface="Arial"/>
                <a:cs typeface="Arial"/>
              </a:defRPr>
            </a:pPr>
            <a:r>
              <a:rPr sz="2625" b="0">
                <a:solidFill>
                  <a:srgbClr val="132B36"/>
                </a:solidFill>
                <a:latin typeface="Arial"/>
                <a:ea typeface="Arial"/>
                <a:cs typeface="Arial"/>
              </a:rPr>
              <a:t>03   Train the model and check its results</a:t>
            </a:r>
          </a:p>
        </p:txBody>
      </p:sp>
      <p:sp>
        <p:nvSpPr>
          <p:cNvPr id="4" name="">
            <a:extLst xmlns:a="http://schemas.openxmlformats.org/drawingml/2006/main">
              <a:ext uri="{FF2B5EF4-FFF2-40B4-BE49-F238E27FC236}">
                <a16:creationId xmlns:a16="http://schemas.microsoft.com/office/drawing/2014/main" id="{656655BA-E13A-48A6-91CB-684AB6B3E997}"/>
              </a:ext>
            </a:extLst>
          </p:cNvPr>
          <p:cNvSpPr>
            <a:spLocks xmlns:a="http://schemas.openxmlformats.org/drawingml/2006/main" noGrp="1"/>
          </p:cNvSpPr>
          <p:nvPr/>
        </p:nvSpPr>
        <p:spPr>
          <a:xfrm xmlns:a="http://schemas.openxmlformats.org/drawingml/2006/main">
            <a:off x="714375" y="4248150"/>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6796B"/>
                </a:solidFill>
                <a:latin typeface="Arial"/>
                <a:ea typeface="Arial"/>
                <a:cs typeface="Arial"/>
              </a:defRPr>
            </a:pPr>
            <a:r>
              <a:rPr sz="2625" b="0">
                <a:solidFill>
                  <a:srgbClr val="16796B"/>
                </a:solidFill>
                <a:latin typeface="Arial"/>
                <a:ea typeface="Arial"/>
                <a:cs typeface="Arial"/>
              </a:rPr>
              <a:t>04   Make predictions using Kafka</a:t>
            </a:r>
          </a:p>
          <a:p xmlns:a="http://schemas.openxmlformats.org/drawingml/2006/main">
            <a:pPr>
              <a:defRPr sz="2625" b="0">
                <a:solidFill>
                  <a:srgbClr val="16796B"/>
                </a:solidFill>
                <a:latin typeface="Arial"/>
                <a:ea typeface="Arial"/>
                <a:cs typeface="Arial"/>
              </a:defRPr>
            </a:pPr>
            <a:r>
              <a:rPr sz="2625" b="0">
                <a:solidFill>
                  <a:srgbClr val="16796B"/>
                </a:solidFill>
                <a:latin typeface="Arial"/>
                <a:ea typeface="Arial"/>
                <a:cs typeface="Arial"/>
              </a:rPr>
              <a:t>05   Let an AI assistant use the model</a:t>
            </a:r>
          </a:p>
        </p:txBody>
      </p:sp>
    </p:spTree>
    <p:extLst>
      <p:ext uri="{BB962C8B-B14F-4D97-AF65-F5344CB8AC3E}">
        <p14:creationId xmlns:p14="http://schemas.microsoft.com/office/powerpoint/2010/main" val="1790730174"/>
      </p:ext>
    </p:extLst>
  </p:cSld>
</p:sld>
</file>

<file path=ppt/slides/slide2.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4BF21A9-F9CD-4E14-8741-04A71974E430}"/>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ML training: the main steps</a:t>
            </a:r>
          </a:p>
        </p:txBody>
      </p:sp>
      <p:sp>
        <p:nvSpPr>
          <p:cNvPr id="2" name="">
            <a:extLst xmlns:a="http://schemas.openxmlformats.org/drawingml/2006/main">
              <a:ext uri="{FF2B5EF4-FFF2-40B4-BE49-F238E27FC236}">
                <a16:creationId xmlns:a16="http://schemas.microsoft.com/office/drawing/2014/main" id="{4CEA9DB2-679B-4750-A23A-8B44A938D2B0}"/>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BE0602EF-2D3C-4205-A71C-3840A2151C89}"/>
              </a:ext>
            </a:extLst>
          </p:cNvPr>
          <p:cNvSpPr>
            <a:spLocks xmlns:a="http://schemas.openxmlformats.org/drawingml/2006/main" noGrp="1"/>
          </p:cNvSpPr>
          <p:nvPr/>
        </p:nvSpPr>
        <p:spPr>
          <a:xfrm xmlns:a="http://schemas.openxmlformats.org/drawingml/2006/main">
            <a:off x="666750" y="180975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Raw AI4I+ data</a:t>
            </a:r>
          </a:p>
        </p:txBody>
      </p:sp>
      <p:sp>
        <p:nvSpPr>
          <p:cNvPr id="4" name="">
            <a:extLst xmlns:a="http://schemas.openxmlformats.org/drawingml/2006/main">
              <a:ext uri="{FF2B5EF4-FFF2-40B4-BE49-F238E27FC236}">
                <a16:creationId xmlns:a16="http://schemas.microsoft.com/office/drawing/2014/main" id="{528C2880-27D0-460F-888A-87904DB266FD}"/>
              </a:ext>
            </a:extLst>
          </p:cNvPr>
          <p:cNvSpPr>
            <a:spLocks xmlns:a="http://schemas.openxmlformats.org/drawingml/2006/main" noGrp="1"/>
          </p:cNvSpPr>
          <p:nvPr/>
        </p:nvSpPr>
        <p:spPr>
          <a:xfrm xmlns:a="http://schemas.openxmlformats.org/drawingml/2006/main">
            <a:off x="3667125" y="180975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Checks + split</a:t>
            </a:r>
          </a:p>
        </p:txBody>
      </p:sp>
      <p:sp>
        <p:nvSpPr>
          <p:cNvPr id="5" name="">
            <a:extLst xmlns:a="http://schemas.openxmlformats.org/drawingml/2006/main">
              <a:ext uri="{FF2B5EF4-FFF2-40B4-BE49-F238E27FC236}">
                <a16:creationId xmlns:a16="http://schemas.microsoft.com/office/drawing/2014/main" id="{7BEF02BD-EC4B-468A-AEA5-1CAED1721825}"/>
              </a:ext>
            </a:extLst>
          </p:cNvPr>
          <p:cNvSpPr>
            <a:spLocks xmlns:a="http://schemas.openxmlformats.org/drawingml/2006/main" noGrp="1"/>
          </p:cNvSpPr>
          <p:nvPr/>
        </p:nvSpPr>
        <p:spPr>
          <a:xfrm xmlns:a="http://schemas.openxmlformats.org/drawingml/2006/main">
            <a:off x="6667500" y="180975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Learn how to</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prepare data</a:t>
            </a:r>
          </a:p>
        </p:txBody>
      </p:sp>
      <p:cxnSp>
        <p:nvCxnSpPr>
          <p:cNvPr id="22" name=""/>
          <p:cNvCxnSpPr>
            <a:stCxn xmlns:a="http://schemas.openxmlformats.org/drawingml/2006/main" id="3" idx="3"/>
            <a:endCxn xmlns:a="http://schemas.openxmlformats.org/drawingml/2006/main" id="4" idx="1"/>
          </p:cNvCxnSpPr>
          <p:nvPr/>
        </p:nvCxnSpPr>
        <p:spPr>
          <a:xfrm xmlns:a="http://schemas.openxmlformats.org/drawingml/2006/main">
            <a:off x="2952750" y="2162175"/>
            <a:ext cx="714375" cy="0"/>
          </a:xfrm>
          <a:prstGeom xmlns:a="http://schemas.openxmlformats.org/drawingml/2006/main" prst="straightConnector1">
            <a:avLst/>
          </a:prstGeom>
          <a:ln xmlns:a="http://schemas.openxmlformats.org/drawingml/2006/main" w="19050">
            <a:solidFill>
              <a:srgbClr val="16796B"/>
            </a:solidFill>
            <a:tailEnd type="triangle" w="med" len="med"/>
          </a:ln>
        </p:spPr>
      </p:cxnSp>
      <p:cxnSp>
        <p:nvCxnSpPr>
          <p:cNvPr id="23" name=""/>
          <p:cNvCxnSpPr>
            <a:stCxn xmlns:a="http://schemas.openxmlformats.org/drawingml/2006/main" id="4" idx="3"/>
            <a:endCxn xmlns:a="http://schemas.openxmlformats.org/drawingml/2006/main" id="5" idx="1"/>
          </p:cNvCxnSpPr>
          <p:nvPr/>
        </p:nvCxnSpPr>
        <p:spPr>
          <a:xfrm xmlns:a="http://schemas.openxmlformats.org/drawingml/2006/main">
            <a:off x="5953125" y="2162175"/>
            <a:ext cx="714375" cy="0"/>
          </a:xfrm>
          <a:prstGeom xmlns:a="http://schemas.openxmlformats.org/drawingml/2006/main" prst="straightConnector1">
            <a:avLst/>
          </a:prstGeom>
          <a:ln xmlns:a="http://schemas.openxmlformats.org/drawingml/2006/main" w="19050">
            <a:solidFill>
              <a:srgbClr val="16796B"/>
            </a:solidFill>
            <a:tailEnd type="triangle" w="med" len="med"/>
          </a:ln>
        </p:spPr>
      </p:cxnSp>
      <p:sp>
        <p:nvSpPr>
          <p:cNvPr id="8" name="">
            <a:extLst xmlns:a="http://schemas.openxmlformats.org/drawingml/2006/main">
              <a:ext uri="{FF2B5EF4-FFF2-40B4-BE49-F238E27FC236}">
                <a16:creationId xmlns:a16="http://schemas.microsoft.com/office/drawing/2014/main" id="{D59A79B2-E66D-47FC-B7FE-B77952247518}"/>
              </a:ext>
            </a:extLst>
          </p:cNvPr>
          <p:cNvSpPr>
            <a:spLocks xmlns:a="http://schemas.openxmlformats.org/drawingml/2006/main" noGrp="1"/>
          </p:cNvSpPr>
          <p:nvPr/>
        </p:nvSpPr>
        <p:spPr>
          <a:xfrm xmlns:a="http://schemas.openxmlformats.org/drawingml/2006/main">
            <a:off x="6667500" y="323850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Train models</a:t>
            </a:r>
          </a:p>
        </p:txBody>
      </p:sp>
      <p:sp>
        <p:nvSpPr>
          <p:cNvPr id="9" name="">
            <a:extLst xmlns:a="http://schemas.openxmlformats.org/drawingml/2006/main">
              <a:ext uri="{FF2B5EF4-FFF2-40B4-BE49-F238E27FC236}">
                <a16:creationId xmlns:a16="http://schemas.microsoft.com/office/drawing/2014/main" id="{02550919-1087-4E0F-AFB1-6A89CCF8BF10}"/>
              </a:ext>
            </a:extLst>
          </p:cNvPr>
          <p:cNvSpPr>
            <a:spLocks xmlns:a="http://schemas.openxmlformats.org/drawingml/2006/main" noGrp="1"/>
          </p:cNvSpPr>
          <p:nvPr/>
        </p:nvSpPr>
        <p:spPr>
          <a:xfrm xmlns:a="http://schemas.openxmlformats.org/drawingml/2006/main">
            <a:off x="3667125" y="323850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Choose alert cutoff</a:t>
            </a:r>
          </a:p>
        </p:txBody>
      </p:sp>
      <p:sp>
        <p:nvSpPr>
          <p:cNvPr id="10" name="">
            <a:extLst xmlns:a="http://schemas.openxmlformats.org/drawingml/2006/main">
              <a:ext uri="{FF2B5EF4-FFF2-40B4-BE49-F238E27FC236}">
                <a16:creationId xmlns:a16="http://schemas.microsoft.com/office/drawing/2014/main" id="{A3E8C241-F1DD-4CC8-9096-47A103F3F53B}"/>
              </a:ext>
            </a:extLst>
          </p:cNvPr>
          <p:cNvSpPr>
            <a:spLocks xmlns:a="http://schemas.openxmlformats.org/drawingml/2006/main" noGrp="1"/>
          </p:cNvSpPr>
          <p:nvPr/>
        </p:nvSpPr>
        <p:spPr>
          <a:xfrm xmlns:a="http://schemas.openxmlformats.org/drawingml/2006/main">
            <a:off x="666750" y="323850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Final test</a:t>
            </a:r>
          </a:p>
        </p:txBody>
      </p:sp>
      <p:cxnSp>
        <p:nvCxnSpPr>
          <p:cNvPr id="27" name=""/>
          <p:cNvCxnSpPr>
            <a:stCxn xmlns:a="http://schemas.openxmlformats.org/drawingml/2006/main" id="5" idx="2"/>
            <a:endCxn xmlns:a="http://schemas.openxmlformats.org/drawingml/2006/main" id="8" idx="0"/>
          </p:cNvCxnSpPr>
          <p:nvPr/>
        </p:nvCxnSpPr>
        <p:spPr>
          <a:xfrm xmlns:a="http://schemas.openxmlformats.org/drawingml/2006/main">
            <a:off x="7810500" y="2514600"/>
            <a:ext cx="0" cy="723900"/>
          </a:xfrm>
          <a:prstGeom xmlns:a="http://schemas.openxmlformats.org/drawingml/2006/main" prst="straightConnector1">
            <a:avLst/>
          </a:prstGeom>
          <a:ln xmlns:a="http://schemas.openxmlformats.org/drawingml/2006/main" w="19050">
            <a:solidFill>
              <a:srgbClr val="16796B"/>
            </a:solidFill>
            <a:tailEnd type="triangle" w="med" len="med"/>
          </a:ln>
        </p:spPr>
      </p:cxnSp>
      <p:cxnSp>
        <p:nvCxnSpPr>
          <p:cNvPr id="28" name=""/>
          <p:cNvCxnSpPr>
            <a:stCxn xmlns:a="http://schemas.openxmlformats.org/drawingml/2006/main" id="8" idx="1"/>
            <a:endCxn xmlns:a="http://schemas.openxmlformats.org/drawingml/2006/main" id="9" idx="3"/>
          </p:cNvCxnSpPr>
          <p:nvPr/>
        </p:nvCxnSpPr>
        <p:spPr>
          <a:xfrm xmlns:a="http://schemas.openxmlformats.org/drawingml/2006/main" flipH="1">
            <a:off x="5953125" y="3590925"/>
            <a:ext cx="714375" cy="0"/>
          </a:xfrm>
          <a:prstGeom xmlns:a="http://schemas.openxmlformats.org/drawingml/2006/main" prst="straightConnector1">
            <a:avLst/>
          </a:prstGeom>
          <a:ln xmlns:a="http://schemas.openxmlformats.org/drawingml/2006/main" w="19050">
            <a:solidFill>
              <a:srgbClr val="16796B"/>
            </a:solidFill>
            <a:tailEnd type="triangle" w="med" len="med"/>
          </a:ln>
        </p:spPr>
      </p:cxnSp>
      <p:cxnSp>
        <p:nvCxnSpPr>
          <p:cNvPr id="29" name=""/>
          <p:cNvCxnSpPr>
            <a:stCxn xmlns:a="http://schemas.openxmlformats.org/drawingml/2006/main" id="9" idx="1"/>
            <a:endCxn xmlns:a="http://schemas.openxmlformats.org/drawingml/2006/main" id="10" idx="3"/>
          </p:cNvCxnSpPr>
          <p:nvPr/>
        </p:nvCxnSpPr>
        <p:spPr>
          <a:xfrm xmlns:a="http://schemas.openxmlformats.org/drawingml/2006/main" flipH="1">
            <a:off x="2952750" y="3590925"/>
            <a:ext cx="714375" cy="0"/>
          </a:xfrm>
          <a:prstGeom xmlns:a="http://schemas.openxmlformats.org/drawingml/2006/main" prst="straightConnector1">
            <a:avLst/>
          </a:prstGeom>
          <a:ln xmlns:a="http://schemas.openxmlformats.org/drawingml/2006/main" w="19050">
            <a:solidFill>
              <a:srgbClr val="16796B"/>
            </a:solidFill>
            <a:tailEnd type="triangle" w="med" len="med"/>
          </a:ln>
        </p:spPr>
      </p:cxnSp>
      <p:sp>
        <p:nvSpPr>
          <p:cNvPr id="14" name="">
            <a:extLst xmlns:a="http://schemas.openxmlformats.org/drawingml/2006/main">
              <a:ext uri="{FF2B5EF4-FFF2-40B4-BE49-F238E27FC236}">
                <a16:creationId xmlns:a16="http://schemas.microsoft.com/office/drawing/2014/main" id="{30CFE23A-74E4-4C46-9F9E-C4866C7036F2}"/>
              </a:ext>
            </a:extLst>
          </p:cNvPr>
          <p:cNvSpPr>
            <a:spLocks xmlns:a="http://schemas.openxmlformats.org/drawingml/2006/main" noGrp="1"/>
          </p:cNvSpPr>
          <p:nvPr/>
        </p:nvSpPr>
        <p:spPr>
          <a:xfrm xmlns:a="http://schemas.openxmlformats.org/drawingml/2006/main">
            <a:off x="666750" y="4667250"/>
            <a:ext cx="5286375"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Save the model and its settings</a:t>
            </a:r>
          </a:p>
        </p:txBody>
      </p:sp>
      <p:cxnSp>
        <p:nvCxnSpPr>
          <p:cNvPr id="31" name=""/>
          <p:cNvCxnSpPr>
            <a:stCxn xmlns:a="http://schemas.openxmlformats.org/drawingml/2006/main" id="10" idx="2"/>
            <a:endCxn xmlns:a="http://schemas.openxmlformats.org/drawingml/2006/main" id="14" idx="0"/>
          </p:cNvCxnSpPr>
          <p:nvPr/>
        </p:nvCxnSpPr>
        <p:spPr>
          <a:xfrm xmlns:a="http://schemas.openxmlformats.org/drawingml/2006/main">
            <a:off x="1809750" y="3943350"/>
            <a:ext cx="1500188" cy="723900"/>
          </a:xfrm>
          <a:prstGeom xmlns:a="http://schemas.openxmlformats.org/drawingml/2006/main" prst="bentConnector4">
            <a:avLst>
              <a:gd name="adj1" fmla="val 0"/>
              <a:gd name="adj2" fmla="val 50000"/>
            </a:avLst>
          </a:prstGeom>
          <a:ln xmlns:a="http://schemas.openxmlformats.org/drawingml/2006/main" w="19050">
            <a:solidFill>
              <a:srgbClr val="16796B"/>
            </a:solidFill>
            <a:tailEnd type="triangle" w="med" len="med"/>
          </a:ln>
        </p:spPr>
      </p:cxnSp>
      <p:sp>
        <p:nvSpPr>
          <p:cNvPr id="16" name="">
            <a:extLst xmlns:a="http://schemas.openxmlformats.org/drawingml/2006/main">
              <a:ext uri="{FF2B5EF4-FFF2-40B4-BE49-F238E27FC236}">
                <a16:creationId xmlns:a16="http://schemas.microsoft.com/office/drawing/2014/main" id="{5D26F734-27B5-4834-A601-645EDE5AEA07}"/>
              </a:ext>
            </a:extLst>
          </p:cNvPr>
          <p:cNvSpPr>
            <a:spLocks xmlns:a="http://schemas.openxmlformats.org/drawingml/2006/main" noGrp="1"/>
          </p:cNvSpPr>
          <p:nvPr/>
        </p:nvSpPr>
        <p:spPr>
          <a:xfrm xmlns:a="http://schemas.openxmlformats.org/drawingml/2006/main">
            <a:off x="6667500" y="4676775"/>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796B"/>
                </a:solidFill>
                <a:latin typeface="Arial"/>
                <a:ea typeface="Arial"/>
                <a:cs typeface="Arial"/>
              </a:defRPr>
            </a:pPr>
            <a:r>
              <a:rPr sz="2175" b="0">
                <a:solidFill>
                  <a:srgbClr val="16796B"/>
                </a:solidFill>
                <a:latin typeface="Arial"/>
                <a:ea typeface="Arial"/>
                <a:cs typeface="Arial"/>
              </a:rPr>
              <a:t>Use the same data preparation</a:t>
            </a:r>
          </a:p>
          <a:p xmlns:a="http://schemas.openxmlformats.org/drawingml/2006/main">
            <a:pPr>
              <a:defRPr sz="2175" b="0">
                <a:solidFill>
                  <a:srgbClr val="16796B"/>
                </a:solidFill>
                <a:latin typeface="Arial"/>
                <a:ea typeface="Arial"/>
                <a:cs typeface="Arial"/>
              </a:defRPr>
            </a:pPr>
            <a:r>
              <a:rPr sz="2175" b="0">
                <a:solidFill>
                  <a:srgbClr val="16796B"/>
                </a:solidFill>
                <a:latin typeface="Arial"/>
                <a:ea typeface="Arial"/>
                <a:cs typeface="Arial"/>
              </a:rPr>
              <a:t>for training and predictions</a:t>
            </a:r>
          </a:p>
        </p:txBody>
      </p:sp>
    </p:spTree>
    <p:extLst>
      <p:ext uri="{BB962C8B-B14F-4D97-AF65-F5344CB8AC3E}">
        <p14:creationId xmlns:p14="http://schemas.microsoft.com/office/powerpoint/2010/main" val="699253812"/>
      </p:ext>
    </p:extLst>
  </p:cSld>
</p:sld>
</file>

<file path=ppt/slides/slide3.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BAD424-6711-431E-AC48-D288A41865F3}"/>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Dataset</a:t>
            </a:r>
          </a:p>
        </p:txBody>
      </p:sp>
      <p:sp>
        <p:nvSpPr>
          <p:cNvPr id="2" name="">
            <a:extLst xmlns:a="http://schemas.openxmlformats.org/drawingml/2006/main">
              <a:ext uri="{FF2B5EF4-FFF2-40B4-BE49-F238E27FC236}">
                <a16:creationId xmlns:a16="http://schemas.microsoft.com/office/drawing/2014/main" id="{959792B5-A59F-4AA5-A2F2-F494617DE1F0}"/>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C88624C6-977E-4DD4-88C1-926D8FE129BC}"/>
              </a:ext>
            </a:extLst>
          </p:cNvPr>
          <p:cNvSpPr>
            <a:spLocks xmlns:a="http://schemas.openxmlformats.org/drawingml/2006/main" noGrp="1"/>
          </p:cNvSpPr>
          <p:nvPr/>
        </p:nvSpPr>
        <p:spPr>
          <a:xfrm xmlns:a="http://schemas.openxmlformats.org/drawingml/2006/main">
            <a:off x="685800" y="17621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6796B"/>
                </a:solidFill>
                <a:latin typeface="Arial"/>
                <a:ea typeface="Arial"/>
                <a:cs typeface="Arial"/>
              </a:defRPr>
            </a:pPr>
            <a:r>
              <a:rPr sz="4050" b="1">
                <a:solidFill>
                  <a:srgbClr val="16796B"/>
                </a:solidFill>
                <a:latin typeface="Arial"/>
                <a:ea typeface="Arial"/>
                <a:cs typeface="Arial"/>
              </a:rPr>
              <a:t>10,000 data rows</a:t>
            </a:r>
          </a:p>
        </p:txBody>
      </p:sp>
      <p:sp>
        <p:nvSpPr>
          <p:cNvPr id="4" name="">
            <a:extLst xmlns:a="http://schemas.openxmlformats.org/drawingml/2006/main">
              <a:ext uri="{FF2B5EF4-FFF2-40B4-BE49-F238E27FC236}">
                <a16:creationId xmlns:a16="http://schemas.microsoft.com/office/drawing/2014/main" id="{0536A46E-E128-43D3-84D4-17A953288234}"/>
              </a:ext>
            </a:extLst>
          </p:cNvPr>
          <p:cNvSpPr>
            <a:spLocks xmlns:a="http://schemas.openxmlformats.org/drawingml/2006/main" noGrp="1"/>
          </p:cNvSpPr>
          <p:nvPr/>
        </p:nvSpPr>
        <p:spPr>
          <a:xfrm xmlns:a="http://schemas.openxmlformats.org/drawingml/2006/main">
            <a:off x="685800" y="2752725"/>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32B36"/>
                </a:solidFill>
                <a:latin typeface="Arial"/>
                <a:ea typeface="Arial"/>
                <a:cs typeface="Arial"/>
              </a:defRPr>
            </a:pPr>
            <a:r>
              <a:rPr sz="2550" b="0">
                <a:solidFill>
                  <a:srgbClr val="132B36"/>
                </a:solidFill>
                <a:latin typeface="Arial"/>
                <a:ea typeface="Arial"/>
                <a:cs typeface="Arial"/>
              </a:rPr>
              <a:t>339 rows show a failure (3.39%)</a:t>
            </a:r>
          </a:p>
          <a:p xmlns:a="http://schemas.openxmlformats.org/drawingml/2006/main">
            <a:pPr>
              <a:defRPr sz="2550" b="0">
                <a:solidFill>
                  <a:srgbClr val="132B36"/>
                </a:solidFill>
                <a:latin typeface="Arial"/>
                <a:ea typeface="Arial"/>
                <a:cs typeface="Arial"/>
              </a:defRPr>
            </a:pPr>
            <a:r>
              <a:rPr sz="2550" b="0">
                <a:solidFill>
                  <a:srgbClr val="132B36"/>
                </a:solidFill>
                <a:latin typeface="Arial"/>
                <a:ea typeface="Arial"/>
                <a:cs typeface="Arial"/>
              </a:rPr>
              <a:t>Each row has machine readings and a failure label</a:t>
            </a:r>
          </a:p>
        </p:txBody>
      </p:sp>
      <p:sp>
        <p:nvSpPr>
          <p:cNvPr id="5" name="">
            <a:extLst xmlns:a="http://schemas.openxmlformats.org/drawingml/2006/main">
              <a:ext uri="{FF2B5EF4-FFF2-40B4-BE49-F238E27FC236}">
                <a16:creationId xmlns:a16="http://schemas.microsoft.com/office/drawing/2014/main" id="{CD09CAEC-6A3B-47EE-A8EE-B57390B03EBB}"/>
              </a:ext>
            </a:extLst>
          </p:cNvPr>
          <p:cNvSpPr>
            <a:spLocks xmlns:a="http://schemas.openxmlformats.org/drawingml/2006/main" noGrp="1"/>
          </p:cNvSpPr>
          <p:nvPr/>
        </p:nvSpPr>
        <p:spPr>
          <a:xfrm xmlns:a="http://schemas.openxmlformats.org/drawingml/2006/main">
            <a:off x="685800" y="44005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AI4I: 14 columns     AI4I+: 29 columns</a:t>
            </a:r>
          </a:p>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AI4I+ adds example sensors, missing values and answer-revealing fields</a:t>
            </a:r>
          </a:p>
        </p:txBody>
      </p:sp>
      <p:sp>
        <p:nvSpPr>
          <p:cNvPr id="6" name="">
            <a:extLst xmlns:a="http://schemas.openxmlformats.org/drawingml/2006/main">
              <a:ext uri="{FF2B5EF4-FFF2-40B4-BE49-F238E27FC236}">
                <a16:creationId xmlns:a16="http://schemas.microsoft.com/office/drawing/2014/main" id="{AC86E6A6-0D48-4D72-BDDE-ABB07E66A67A}"/>
              </a:ext>
            </a:extLst>
          </p:cNvPr>
          <p:cNvSpPr>
            <a:spLocks xmlns:a="http://schemas.openxmlformats.org/drawingml/2006/main" noGrp="1"/>
          </p:cNvSpPr>
          <p:nvPr/>
        </p:nvSpPr>
        <p:spPr>
          <a:xfrm xmlns:a="http://schemas.openxmlformats.org/drawingml/2006/main">
            <a:off x="685800" y="58674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796B"/>
                </a:solidFill>
                <a:latin typeface="Arial"/>
                <a:ea typeface="Arial"/>
                <a:cs typeface="Arial"/>
              </a:defRPr>
            </a:pPr>
            <a:r>
              <a:rPr sz="1875" b="1">
                <a:solidFill>
                  <a:srgbClr val="16796B"/>
                </a:solidFill>
                <a:latin typeface="Arial"/>
                <a:ea typeface="Arial"/>
                <a:cs typeface="Arial"/>
              </a:rPr>
              <a:t>Goal: identify a failure from the current machine readings</a:t>
            </a:r>
          </a:p>
        </p:txBody>
      </p:sp>
    </p:spTree>
    <p:extLst>
      <p:ext uri="{BB962C8B-B14F-4D97-AF65-F5344CB8AC3E}">
        <p14:creationId xmlns:p14="http://schemas.microsoft.com/office/powerpoint/2010/main" val="326511008"/>
      </p:ext>
    </p:extLst>
  </p:cSld>
</p:sld>
</file>

<file path=ppt/slides/slide4.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00B7DA-867C-4EBE-B48E-81AB4EFB2BCA}"/>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Features: inputs to the model</a:t>
            </a:r>
          </a:p>
        </p:txBody>
      </p:sp>
      <p:sp>
        <p:nvSpPr>
          <p:cNvPr id="2" name="">
            <a:extLst xmlns:a="http://schemas.openxmlformats.org/drawingml/2006/main">
              <a:ext uri="{FF2B5EF4-FFF2-40B4-BE49-F238E27FC236}">
                <a16:creationId xmlns:a16="http://schemas.microsoft.com/office/drawing/2014/main" id="{0A3B4E82-E5C4-46C6-B9B0-4EAE84175374}"/>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BF100580-1A02-4761-948D-A1B15E6685DC}"/>
              </a:ext>
            </a:extLst>
          </p:cNvPr>
          <p:cNvSpPr>
            <a:spLocks xmlns:a="http://schemas.openxmlformats.org/drawingml/2006/main" noGrp="1"/>
          </p:cNvSpPr>
          <p:nvPr/>
        </p:nvSpPr>
        <p:spPr>
          <a:xfrm xmlns:a="http://schemas.openxmlformats.org/drawingml/2006/main">
            <a:off x="685800" y="168592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796B"/>
                </a:solidFill>
                <a:latin typeface="Arial"/>
                <a:ea typeface="Arial"/>
                <a:cs typeface="Arial"/>
              </a:defRPr>
            </a:pPr>
            <a:r>
              <a:rPr sz="2400" b="1">
                <a:solidFill>
                  <a:srgbClr val="16796B"/>
                </a:solidFill>
                <a:latin typeface="Arial"/>
                <a:ea typeface="Arial"/>
                <a:cs typeface="Arial"/>
              </a:rPr>
              <a:t>What we use</a:t>
            </a:r>
          </a:p>
        </p:txBody>
      </p:sp>
      <p:sp>
        <p:nvSpPr>
          <p:cNvPr id="4" name="">
            <a:extLst xmlns:a="http://schemas.openxmlformats.org/drawingml/2006/main">
              <a:ext uri="{FF2B5EF4-FFF2-40B4-BE49-F238E27FC236}">
                <a16:creationId xmlns:a16="http://schemas.microsoft.com/office/drawing/2014/main" id="{D362714C-0829-495E-9DB1-877345135CEF}"/>
              </a:ext>
            </a:extLst>
          </p:cNvPr>
          <p:cNvSpPr>
            <a:spLocks xmlns:a="http://schemas.openxmlformats.org/drawingml/2006/main" noGrp="1"/>
          </p:cNvSpPr>
          <p:nvPr/>
        </p:nvSpPr>
        <p:spPr>
          <a:xfrm xmlns:a="http://schemas.openxmlformats.org/drawingml/2006/main">
            <a:off x="685800" y="2295525"/>
            <a:ext cx="5334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Air and process temperature (K)</a:t>
            </a:r>
          </a:p>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Rotational speed (RPM)</a:t>
            </a:r>
          </a:p>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Torque (Nm), tool wear (min)</a:t>
            </a:r>
          </a:p>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Simulated vibration RMS</a:t>
            </a:r>
          </a:p>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Product type (L / M / H)</a:t>
            </a:r>
          </a:p>
        </p:txBody>
      </p:sp>
      <p:sp>
        <p:nvSpPr>
          <p:cNvPr id="5" name="">
            <a:extLst xmlns:a="http://schemas.openxmlformats.org/drawingml/2006/main">
              <a:ext uri="{FF2B5EF4-FFF2-40B4-BE49-F238E27FC236}">
                <a16:creationId xmlns:a16="http://schemas.microsoft.com/office/drawing/2014/main" id="{656EE9AD-7261-49C1-B121-FE092423592D}"/>
              </a:ext>
            </a:extLst>
          </p:cNvPr>
          <p:cNvSpPr>
            <a:spLocks xmlns:a="http://schemas.openxmlformats.org/drawingml/2006/main" noGrp="1"/>
          </p:cNvSpPr>
          <p:nvPr/>
        </p:nvSpPr>
        <p:spPr>
          <a:xfrm xmlns:a="http://schemas.openxmlformats.org/drawingml/2006/main">
            <a:off x="6572250" y="168592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796B"/>
                </a:solidFill>
                <a:latin typeface="Arial"/>
                <a:ea typeface="Arial"/>
                <a:cs typeface="Arial"/>
              </a:defRPr>
            </a:pPr>
            <a:r>
              <a:rPr sz="2400" b="1">
                <a:solidFill>
                  <a:srgbClr val="16796B"/>
                </a:solidFill>
                <a:latin typeface="Arial"/>
                <a:ea typeface="Arial"/>
                <a:cs typeface="Arial"/>
              </a:rPr>
              <a:t>What we leave out</a:t>
            </a:r>
          </a:p>
        </p:txBody>
      </p:sp>
      <p:sp>
        <p:nvSpPr>
          <p:cNvPr id="6" name="">
            <a:extLst xmlns:a="http://schemas.openxmlformats.org/drawingml/2006/main">
              <a:ext uri="{FF2B5EF4-FFF2-40B4-BE49-F238E27FC236}">
                <a16:creationId xmlns:a16="http://schemas.microsoft.com/office/drawing/2014/main" id="{49F8F05C-F59F-447C-B9C4-44A6D5F4E19C}"/>
              </a:ext>
            </a:extLst>
          </p:cNvPr>
          <p:cNvSpPr>
            <a:spLocks xmlns:a="http://schemas.openxmlformats.org/drawingml/2006/main" noGrp="1"/>
          </p:cNvSpPr>
          <p:nvPr/>
        </p:nvSpPr>
        <p:spPr>
          <a:xfrm xmlns:a="http://schemas.openxmlformats.org/drawingml/2006/main">
            <a:off x="6572250" y="2295525"/>
            <a:ext cx="4857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32B36"/>
                </a:solidFill>
                <a:latin typeface="Arial"/>
                <a:ea typeface="Arial"/>
                <a:cs typeface="Arial"/>
              </a:defRPr>
            </a:pPr>
            <a:r>
              <a:rPr sz="2100" b="0">
                <a:solidFill>
                  <a:srgbClr val="132B36"/>
                </a:solidFill>
                <a:latin typeface="Arial"/>
                <a:ea typeface="Arial"/>
                <a:cs typeface="Arial"/>
              </a:rPr>
              <a:t>The failure label we want to predict</a:t>
            </a:r>
          </a:p>
          <a:p xmlns:a="http://schemas.openxmlformats.org/drawingml/2006/main">
            <a:pPr>
              <a:defRPr sz="2100" b="0">
                <a:solidFill>
                  <a:srgbClr val="132B36"/>
                </a:solidFill>
                <a:latin typeface="Arial"/>
                <a:ea typeface="Arial"/>
                <a:cs typeface="Arial"/>
              </a:defRPr>
            </a:pPr>
            <a:r>
              <a:rPr sz="2100" b="0">
                <a:solidFill>
                  <a:srgbClr val="132B36"/>
                </a:solidFill>
                <a:latin typeface="Arial"/>
                <a:ea typeface="Arial"/>
                <a:cs typeface="Arial"/>
              </a:rPr>
              <a:t>Fields that reveal the type of failure</a:t>
            </a:r>
          </a:p>
          <a:p xmlns:a="http://schemas.openxmlformats.org/drawingml/2006/main">
            <a:pPr>
              <a:defRPr sz="2100" b="0">
                <a:solidFill>
                  <a:srgbClr val="132B36"/>
                </a:solidFill>
                <a:latin typeface="Arial"/>
                <a:ea typeface="Arial"/>
                <a:cs typeface="Arial"/>
              </a:defRPr>
            </a:pPr>
            <a:r>
              <a:rPr sz="2100" b="0">
                <a:solidFill>
                  <a:srgbClr val="132B36"/>
                </a:solidFill>
                <a:latin typeface="Arial"/>
                <a:ea typeface="Arial"/>
                <a:cs typeface="Arial"/>
              </a:rPr>
              <a:t>Alarms and codes recorded after failure</a:t>
            </a:r>
          </a:p>
          <a:p xmlns:a="http://schemas.openxmlformats.org/drawingml/2006/main">
            <a:pPr>
              <a:defRPr sz="2100" b="0">
                <a:solidFill>
                  <a:srgbClr val="132B36"/>
                </a:solidFill>
                <a:latin typeface="Arial"/>
                <a:ea typeface="Arial"/>
                <a:cs typeface="Arial"/>
              </a:defRPr>
            </a:pPr>
            <a:r>
              <a:rPr sz="2100" b="0">
                <a:solidFill>
                  <a:srgbClr val="132B36"/>
                </a:solidFill>
                <a:latin typeface="Arial"/>
                <a:ea typeface="Arial"/>
                <a:cs typeface="Arial"/>
              </a:rPr>
              <a:t>Emergency stop</a:t>
            </a:r>
          </a:p>
          <a:p xmlns:a="http://schemas.openxmlformats.org/drawingml/2006/main">
            <a:pPr>
              <a:defRPr sz="2100" b="0">
                <a:solidFill>
                  <a:srgbClr val="132B36"/>
                </a:solidFill>
                <a:latin typeface="Arial"/>
                <a:ea typeface="Arial"/>
                <a:cs typeface="Arial"/>
              </a:defRPr>
            </a:pPr>
            <a:r>
              <a:rPr sz="2100" b="0">
                <a:solidFill>
                  <a:srgbClr val="132B36"/>
                </a:solidFill>
                <a:latin typeface="Arial"/>
                <a:ea typeface="Arial"/>
                <a:cs typeface="Arial"/>
              </a:rPr>
              <a:t>IDs and extra fields we do not need</a:t>
            </a:r>
          </a:p>
        </p:txBody>
      </p:sp>
      <p:sp>
        <p:nvSpPr>
          <p:cNvPr id="7" name="">
            <a:extLst xmlns:a="http://schemas.openxmlformats.org/drawingml/2006/main">
              <a:ext uri="{FF2B5EF4-FFF2-40B4-BE49-F238E27FC236}">
                <a16:creationId xmlns:a16="http://schemas.microsoft.com/office/drawing/2014/main" id="{1BA94A30-312D-4880-AEC9-6733E631C00A}"/>
              </a:ext>
            </a:extLst>
          </p:cNvPr>
          <p:cNvSpPr>
            <a:spLocks xmlns:a="http://schemas.openxmlformats.org/drawingml/2006/main" noGrp="1"/>
          </p:cNvSpPr>
          <p:nvPr/>
        </p:nvSpPr>
        <p:spPr>
          <a:xfrm xmlns:a="http://schemas.openxmlformats.org/drawingml/2006/main">
            <a:off x="685800" y="57340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32B36"/>
                </a:solidFill>
                <a:latin typeface="Arial"/>
                <a:ea typeface="Arial"/>
                <a:cs typeface="Arial"/>
              </a:defRPr>
            </a:pPr>
            <a:r>
              <a:rPr sz="2025" b="1">
                <a:solidFill>
                  <a:srgbClr val="132B36"/>
                </a:solidFill>
                <a:latin typeface="Arial"/>
                <a:ea typeface="Arial"/>
                <a:cs typeface="Arial"/>
              </a:rPr>
              <a:t>Would we know this value before asking the model?</a:t>
            </a:r>
          </a:p>
        </p:txBody>
      </p:sp>
    </p:spTree>
    <p:extLst>
      <p:ext uri="{BB962C8B-B14F-4D97-AF65-F5344CB8AC3E}">
        <p14:creationId xmlns:p14="http://schemas.microsoft.com/office/powerpoint/2010/main" val="1336043242"/>
      </p:ext>
    </p:extLst>
  </p:cSld>
</p:sld>
</file>

<file path=ppt/slides/slide5.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81E73C4-D39B-4BCF-8284-E438F31C3384}"/>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Choosing an algorithm</a:t>
            </a:r>
          </a:p>
        </p:txBody>
      </p:sp>
      <p:sp>
        <p:nvSpPr>
          <p:cNvPr id="2" name="">
            <a:extLst xmlns:a="http://schemas.openxmlformats.org/drawingml/2006/main">
              <a:ext uri="{FF2B5EF4-FFF2-40B4-BE49-F238E27FC236}">
                <a16:creationId xmlns:a16="http://schemas.microsoft.com/office/drawing/2014/main" id="{02AB1444-7070-4AFB-98EC-E947210C0582}"/>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4557BBE5-E511-4F20-AD2E-F48FB9EC3F31}"/>
              </a:ext>
            </a:extLst>
          </p:cNvPr>
          <p:cNvSpPr>
            <a:spLocks xmlns:a="http://schemas.openxmlformats.org/drawingml/2006/main" noGrp="1"/>
          </p:cNvSpPr>
          <p:nvPr/>
        </p:nvSpPr>
        <p:spPr>
          <a:xfrm xmlns:a="http://schemas.openxmlformats.org/drawingml/2006/main">
            <a:off x="685800" y="17811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6796B"/>
                </a:solidFill>
                <a:latin typeface="Arial"/>
                <a:ea typeface="Arial"/>
                <a:cs typeface="Arial"/>
              </a:defRPr>
            </a:pPr>
            <a:r>
              <a:rPr sz="2475" b="1">
                <a:solidFill>
                  <a:srgbClr val="16796B"/>
                </a:solidFill>
                <a:latin typeface="Arial"/>
                <a:ea typeface="Arial"/>
                <a:cs typeface="Arial"/>
              </a:rPr>
              <a:t>Dummy classifier</a:t>
            </a:r>
          </a:p>
        </p:txBody>
      </p:sp>
      <p:sp>
        <p:nvSpPr>
          <p:cNvPr id="4" name="">
            <a:extLst xmlns:a="http://schemas.openxmlformats.org/drawingml/2006/main">
              <a:ext uri="{FF2B5EF4-FFF2-40B4-BE49-F238E27FC236}">
                <a16:creationId xmlns:a16="http://schemas.microsoft.com/office/drawing/2014/main" id="{59C257F4-062D-4C5D-B078-221B55C6C3C3}"/>
              </a:ext>
            </a:extLst>
          </p:cNvPr>
          <p:cNvSpPr>
            <a:spLocks xmlns:a="http://schemas.openxmlformats.org/drawingml/2006/main" noGrp="1"/>
          </p:cNvSpPr>
          <p:nvPr/>
        </p:nvSpPr>
        <p:spPr>
          <a:xfrm xmlns:a="http://schemas.openxmlformats.org/drawingml/2006/main">
            <a:off x="4333875" y="1781175"/>
            <a:ext cx="704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Always predicts “normal”. Our starting point.</a:t>
            </a:r>
          </a:p>
        </p:txBody>
      </p:sp>
      <p:sp>
        <p:nvSpPr>
          <p:cNvPr id="5" name="">
            <a:extLst xmlns:a="http://schemas.openxmlformats.org/drawingml/2006/main">
              <a:ext uri="{FF2B5EF4-FFF2-40B4-BE49-F238E27FC236}">
                <a16:creationId xmlns:a16="http://schemas.microsoft.com/office/drawing/2014/main" id="{6D7DA3FF-41F3-4E2C-8785-6EB34ECF5AB2}"/>
              </a:ext>
            </a:extLst>
          </p:cNvPr>
          <p:cNvSpPr>
            <a:spLocks xmlns:a="http://schemas.openxmlformats.org/drawingml/2006/main" noGrp="1"/>
          </p:cNvSpPr>
          <p:nvPr/>
        </p:nvSpPr>
        <p:spPr>
          <a:xfrm xmlns:a="http://schemas.openxmlformats.org/drawingml/2006/main">
            <a:off x="685800" y="3000375"/>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6796B"/>
                </a:solidFill>
                <a:latin typeface="Arial"/>
                <a:ea typeface="Arial"/>
                <a:cs typeface="Arial"/>
              </a:defRPr>
            </a:pPr>
            <a:r>
              <a:rPr sz="2475" b="1">
                <a:solidFill>
                  <a:srgbClr val="16796B"/>
                </a:solidFill>
                <a:latin typeface="Arial"/>
                <a:ea typeface="Arial"/>
                <a:cs typeface="Arial"/>
              </a:rPr>
              <a:t>Small decision tree</a:t>
            </a:r>
          </a:p>
        </p:txBody>
      </p:sp>
      <p:sp>
        <p:nvSpPr>
          <p:cNvPr id="6" name="">
            <a:extLst xmlns:a="http://schemas.openxmlformats.org/drawingml/2006/main">
              <a:ext uri="{FF2B5EF4-FFF2-40B4-BE49-F238E27FC236}">
                <a16:creationId xmlns:a16="http://schemas.microsoft.com/office/drawing/2014/main" id="{45ACB2FB-0539-46D7-A5DE-374E618710CD}"/>
              </a:ext>
            </a:extLst>
          </p:cNvPr>
          <p:cNvSpPr>
            <a:spLocks xmlns:a="http://schemas.openxmlformats.org/drawingml/2006/main" noGrp="1"/>
          </p:cNvSpPr>
          <p:nvPr/>
        </p:nvSpPr>
        <p:spPr>
          <a:xfrm xmlns:a="http://schemas.openxmlformats.org/drawingml/2006/main">
            <a:off x="4333875" y="3000375"/>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Uses simple rules we can read and explain.</a:t>
            </a:r>
          </a:p>
        </p:txBody>
      </p:sp>
      <p:sp>
        <p:nvSpPr>
          <p:cNvPr id="7" name="">
            <a:extLst xmlns:a="http://schemas.openxmlformats.org/drawingml/2006/main">
              <a:ext uri="{FF2B5EF4-FFF2-40B4-BE49-F238E27FC236}">
                <a16:creationId xmlns:a16="http://schemas.microsoft.com/office/drawing/2014/main" id="{C63B8D0C-621C-4DD6-BC3C-2A3BF23641C7}"/>
              </a:ext>
            </a:extLst>
          </p:cNvPr>
          <p:cNvSpPr>
            <a:spLocks xmlns:a="http://schemas.openxmlformats.org/drawingml/2006/main" noGrp="1"/>
          </p:cNvSpPr>
          <p:nvPr/>
        </p:nvSpPr>
        <p:spPr>
          <a:xfrm xmlns:a="http://schemas.openxmlformats.org/drawingml/2006/main">
            <a:off x="685800" y="427672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6796B"/>
                </a:solidFill>
                <a:latin typeface="Arial"/>
                <a:ea typeface="Arial"/>
                <a:cs typeface="Arial"/>
              </a:defRPr>
            </a:pPr>
            <a:r>
              <a:rPr sz="2475" b="1">
                <a:solidFill>
                  <a:srgbClr val="16796B"/>
                </a:solidFill>
                <a:latin typeface="Arial"/>
                <a:ea typeface="Arial"/>
                <a:cs typeface="Arial"/>
              </a:rPr>
              <a:t>Random Forest</a:t>
            </a:r>
          </a:p>
        </p:txBody>
      </p:sp>
      <p:sp>
        <p:nvSpPr>
          <p:cNvPr id="8" name="">
            <a:extLst xmlns:a="http://schemas.openxmlformats.org/drawingml/2006/main">
              <a:ext uri="{FF2B5EF4-FFF2-40B4-BE49-F238E27FC236}">
                <a16:creationId xmlns:a16="http://schemas.microsoft.com/office/drawing/2014/main" id="{233D8CFC-8140-4B52-8606-7DB5E058861A}"/>
              </a:ext>
            </a:extLst>
          </p:cNvPr>
          <p:cNvSpPr>
            <a:spLocks xmlns:a="http://schemas.openxmlformats.org/drawingml/2006/main" noGrp="1"/>
          </p:cNvSpPr>
          <p:nvPr/>
        </p:nvSpPr>
        <p:spPr>
          <a:xfrm xmlns:a="http://schemas.openxmlformats.org/drawingml/2006/main">
            <a:off x="4333875" y="4276725"/>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Combines many trees to find more complex patterns.</a:t>
            </a:r>
          </a:p>
        </p:txBody>
      </p:sp>
      <p:sp>
        <p:nvSpPr>
          <p:cNvPr id="9" name="">
            <a:extLst xmlns:a="http://schemas.openxmlformats.org/drawingml/2006/main">
              <a:ext uri="{FF2B5EF4-FFF2-40B4-BE49-F238E27FC236}">
                <a16:creationId xmlns:a16="http://schemas.microsoft.com/office/drawing/2014/main" id="{8989BCC6-F2FA-47EE-A0EF-E97427913570}"/>
              </a:ext>
            </a:extLst>
          </p:cNvPr>
          <p:cNvSpPr>
            <a:spLocks xmlns:a="http://schemas.openxmlformats.org/drawingml/2006/main" noGrp="1"/>
          </p:cNvSpPr>
          <p:nvPr/>
        </p:nvSpPr>
        <p:spPr>
          <a:xfrm xmlns:a="http://schemas.openxmlformats.org/drawingml/2006/main">
            <a:off x="685800" y="5810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Check how each model performs on data it did not train on</a:t>
            </a:r>
          </a:p>
        </p:txBody>
      </p:sp>
    </p:spTree>
    <p:extLst>
      <p:ext uri="{BB962C8B-B14F-4D97-AF65-F5344CB8AC3E}">
        <p14:creationId xmlns:p14="http://schemas.microsoft.com/office/powerpoint/2010/main" val="135718057"/>
      </p:ext>
    </p:extLst>
  </p:cSld>
</p:sld>
</file>

<file path=ppt/slides/slide6.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7C0054B-121E-4544-8593-9F9B89C75F2E}"/>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Check the data, then split it</a:t>
            </a:r>
          </a:p>
        </p:txBody>
      </p:sp>
      <p:sp>
        <p:nvSpPr>
          <p:cNvPr id="2" name="">
            <a:extLst xmlns:a="http://schemas.openxmlformats.org/drawingml/2006/main">
              <a:ext uri="{FF2B5EF4-FFF2-40B4-BE49-F238E27FC236}">
                <a16:creationId xmlns:a16="http://schemas.microsoft.com/office/drawing/2014/main" id="{180D65D9-AA19-48B0-9153-C2A6478C56D8}"/>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AEF0438E-BB1F-4EA1-9436-9C1D571A7C9C}"/>
              </a:ext>
            </a:extLst>
          </p:cNvPr>
          <p:cNvSpPr>
            <a:spLocks xmlns:a="http://schemas.openxmlformats.org/drawingml/2006/main" noGrp="1"/>
          </p:cNvSpPr>
          <p:nvPr/>
        </p:nvSpPr>
        <p:spPr>
          <a:xfrm xmlns:a="http://schemas.openxmlformats.org/drawingml/2006/main">
            <a:off x="685800" y="169545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32B36"/>
                </a:solidFill>
                <a:latin typeface="Arial"/>
                <a:ea typeface="Arial"/>
                <a:cs typeface="Arial"/>
              </a:defRPr>
            </a:pPr>
            <a:r>
              <a:rPr sz="2325" b="0">
                <a:solidFill>
                  <a:srgbClr val="132B36"/>
                </a:solidFill>
                <a:latin typeface="Arial"/>
                <a:ea typeface="Arial"/>
                <a:cs typeface="Arial"/>
              </a:rPr>
              <a:t>Check columns, labels, missing values and repeated rows</a:t>
            </a:r>
          </a:p>
          <a:p xmlns:a="http://schemas.openxmlformats.org/drawingml/2006/main">
            <a:pPr>
              <a:defRPr sz="2325" b="0">
                <a:solidFill>
                  <a:srgbClr val="132B36"/>
                </a:solidFill>
                <a:latin typeface="Arial"/>
                <a:ea typeface="Arial"/>
                <a:cs typeface="Arial"/>
              </a:defRPr>
            </a:pPr>
            <a:r>
              <a:rPr sz="2325" b="0">
                <a:solidFill>
                  <a:srgbClr val="132B36"/>
                </a:solidFill>
                <a:latin typeface="Arial"/>
                <a:ea typeface="Arial"/>
                <a:cs typeface="Arial"/>
              </a:rPr>
              <a:t>Keep the groups separate. Remove fields that reveal the answer.</a:t>
            </a:r>
          </a:p>
        </p:txBody>
      </p:sp>
      <p:sp>
        <p:nvSpPr>
          <p:cNvPr id="4" name="">
            <a:extLst xmlns:a="http://schemas.openxmlformats.org/drawingml/2006/main">
              <a:ext uri="{FF2B5EF4-FFF2-40B4-BE49-F238E27FC236}">
                <a16:creationId xmlns:a16="http://schemas.microsoft.com/office/drawing/2014/main" id="{82224965-501D-468F-85C6-F666CDDB2C9F}"/>
              </a:ext>
            </a:extLst>
          </p:cNvPr>
          <p:cNvSpPr>
            <a:spLocks xmlns:a="http://schemas.openxmlformats.org/drawingml/2006/main" noGrp="1"/>
          </p:cNvSpPr>
          <p:nvPr/>
        </p:nvSpPr>
        <p:spPr>
          <a:xfrm xmlns:a="http://schemas.openxmlformats.org/drawingml/2006/main">
            <a:off x="685800" y="3371850"/>
            <a:ext cx="3048000" cy="8763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Train: 6,000 rows</a:t>
            </a:r>
          </a:p>
        </p:txBody>
      </p:sp>
      <p:sp>
        <p:nvSpPr>
          <p:cNvPr id="5" name="">
            <a:extLst xmlns:a="http://schemas.openxmlformats.org/drawingml/2006/main">
              <a:ext uri="{FF2B5EF4-FFF2-40B4-BE49-F238E27FC236}">
                <a16:creationId xmlns:a16="http://schemas.microsoft.com/office/drawing/2014/main" id="{6DCE4C4C-D535-4229-8532-AF2010900909}"/>
              </a:ext>
            </a:extLst>
          </p:cNvPr>
          <p:cNvSpPr>
            <a:spLocks xmlns:a="http://schemas.openxmlformats.org/drawingml/2006/main" noGrp="1"/>
          </p:cNvSpPr>
          <p:nvPr/>
        </p:nvSpPr>
        <p:spPr>
          <a:xfrm xmlns:a="http://schemas.openxmlformats.org/drawingml/2006/main">
            <a:off x="4457700" y="3371850"/>
            <a:ext cx="3238500" cy="8763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Validation: 2,000 rows</a:t>
            </a:r>
          </a:p>
        </p:txBody>
      </p:sp>
      <p:sp>
        <p:nvSpPr>
          <p:cNvPr id="6" name="">
            <a:extLst xmlns:a="http://schemas.openxmlformats.org/drawingml/2006/main">
              <a:ext uri="{FF2B5EF4-FFF2-40B4-BE49-F238E27FC236}">
                <a16:creationId xmlns:a16="http://schemas.microsoft.com/office/drawing/2014/main" id="{05A2909D-1BD8-4E1A-BEB7-7226E08CABC2}"/>
              </a:ext>
            </a:extLst>
          </p:cNvPr>
          <p:cNvSpPr>
            <a:spLocks xmlns:a="http://schemas.openxmlformats.org/drawingml/2006/main" noGrp="1"/>
          </p:cNvSpPr>
          <p:nvPr/>
        </p:nvSpPr>
        <p:spPr>
          <a:xfrm xmlns:a="http://schemas.openxmlformats.org/drawingml/2006/main">
            <a:off x="8420100" y="3371850"/>
            <a:ext cx="3048000" cy="8763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Test: 2,000 rows</a:t>
            </a:r>
          </a:p>
        </p:txBody>
      </p:sp>
      <p:sp>
        <p:nvSpPr>
          <p:cNvPr id="7" name="">
            <a:extLst xmlns:a="http://schemas.openxmlformats.org/drawingml/2006/main">
              <a:ext uri="{FF2B5EF4-FFF2-40B4-BE49-F238E27FC236}">
                <a16:creationId xmlns:a16="http://schemas.microsoft.com/office/drawing/2014/main" id="{C91DB64C-8601-4608-850E-FF2AA04E9093}"/>
              </a:ext>
            </a:extLst>
          </p:cNvPr>
          <p:cNvSpPr>
            <a:spLocks xmlns:a="http://schemas.openxmlformats.org/drawingml/2006/main" noGrp="1"/>
          </p:cNvSpPr>
          <p:nvPr/>
        </p:nvSpPr>
        <p:spPr>
          <a:xfrm xmlns:a="http://schemas.openxmlformats.org/drawingml/2006/main">
            <a:off x="685800" y="44481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Teach the model</a:t>
            </a:r>
          </a:p>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using these rows</a:t>
            </a:r>
          </a:p>
        </p:txBody>
      </p:sp>
      <p:sp>
        <p:nvSpPr>
          <p:cNvPr id="8" name="">
            <a:extLst xmlns:a="http://schemas.openxmlformats.org/drawingml/2006/main">
              <a:ext uri="{FF2B5EF4-FFF2-40B4-BE49-F238E27FC236}">
                <a16:creationId xmlns:a16="http://schemas.microsoft.com/office/drawing/2014/main" id="{24014D66-F84B-48C3-AF0B-109F36D670CD}"/>
              </a:ext>
            </a:extLst>
          </p:cNvPr>
          <p:cNvSpPr>
            <a:spLocks xmlns:a="http://schemas.openxmlformats.org/drawingml/2006/main" noGrp="1"/>
          </p:cNvSpPr>
          <p:nvPr/>
        </p:nvSpPr>
        <p:spPr>
          <a:xfrm xmlns:a="http://schemas.openxmlformats.org/drawingml/2006/main">
            <a:off x="4457700" y="44481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Choose the model</a:t>
            </a:r>
          </a:p>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and alert cutoff</a:t>
            </a:r>
          </a:p>
        </p:txBody>
      </p:sp>
      <p:sp>
        <p:nvSpPr>
          <p:cNvPr id="9" name="">
            <a:extLst xmlns:a="http://schemas.openxmlformats.org/drawingml/2006/main">
              <a:ext uri="{FF2B5EF4-FFF2-40B4-BE49-F238E27FC236}">
                <a16:creationId xmlns:a16="http://schemas.microsoft.com/office/drawing/2014/main" id="{5A69A71B-4DA9-4ED5-8DD3-550935C9C56D}"/>
              </a:ext>
            </a:extLst>
          </p:cNvPr>
          <p:cNvSpPr>
            <a:spLocks xmlns:a="http://schemas.openxmlformats.org/drawingml/2006/main" noGrp="1"/>
          </p:cNvSpPr>
          <p:nvPr/>
        </p:nvSpPr>
        <p:spPr>
          <a:xfrm xmlns:a="http://schemas.openxmlformats.org/drawingml/2006/main">
            <a:off x="8420100" y="44481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Check the final model</a:t>
            </a:r>
          </a:p>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without changing it</a:t>
            </a:r>
          </a:p>
        </p:txBody>
      </p:sp>
      <p:sp>
        <p:nvSpPr>
          <p:cNvPr id="10" name="">
            <a:extLst xmlns:a="http://schemas.openxmlformats.org/drawingml/2006/main">
              <a:ext uri="{FF2B5EF4-FFF2-40B4-BE49-F238E27FC236}">
                <a16:creationId xmlns:a16="http://schemas.microsoft.com/office/drawing/2014/main" id="{F828C71C-34AB-41C4-918E-0E5137B4AFCC}"/>
              </a:ext>
            </a:extLst>
          </p:cNvPr>
          <p:cNvSpPr>
            <a:spLocks xmlns:a="http://schemas.openxmlformats.org/drawingml/2006/main" noGrp="1"/>
          </p:cNvSpPr>
          <p:nvPr/>
        </p:nvSpPr>
        <p:spPr>
          <a:xfrm xmlns:a="http://schemas.openxmlformats.org/drawingml/2006/main">
            <a:off x="685800" y="58197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96B"/>
                </a:solidFill>
                <a:latin typeface="Arial"/>
                <a:ea typeface="Arial"/>
                <a:cs typeface="Arial"/>
              </a:defRPr>
            </a:pPr>
            <a:r>
              <a:rPr sz="2025" b="1">
                <a:solidFill>
                  <a:srgbClr val="16796B"/>
                </a:solidFill>
                <a:latin typeface="Arial"/>
                <a:ea typeface="Arial"/>
                <a:cs typeface="Arial"/>
              </a:rPr>
              <a:t>60% / 20% / 20% split. Keep a similar share of failures in each group.</a:t>
            </a:r>
          </a:p>
        </p:txBody>
      </p:sp>
    </p:spTree>
    <p:extLst>
      <p:ext uri="{BB962C8B-B14F-4D97-AF65-F5344CB8AC3E}">
        <p14:creationId xmlns:p14="http://schemas.microsoft.com/office/powerpoint/2010/main" val="1646487626"/>
      </p:ext>
    </p:extLst>
  </p:cSld>
</p:sld>
</file>

<file path=ppt/slides/slide7.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C60B891-1954-48D6-98D5-32ECF4BC67CC}"/>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Train the model and test it</a:t>
            </a:r>
          </a:p>
        </p:txBody>
      </p:sp>
      <p:sp>
        <p:nvSpPr>
          <p:cNvPr id="2" name="">
            <a:extLst xmlns:a="http://schemas.openxmlformats.org/drawingml/2006/main">
              <a:ext uri="{FF2B5EF4-FFF2-40B4-BE49-F238E27FC236}">
                <a16:creationId xmlns:a16="http://schemas.microsoft.com/office/drawing/2014/main" id="{930F49B1-FB7E-48DE-9EBF-58DED54AB581}"/>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5285CA03-DFF5-4BF8-897A-F120C76B9874}"/>
              </a:ext>
            </a:extLst>
          </p:cNvPr>
          <p:cNvSpPr>
            <a:spLocks xmlns:a="http://schemas.openxmlformats.org/drawingml/2006/main" noGrp="1"/>
          </p:cNvSpPr>
          <p:nvPr/>
        </p:nvSpPr>
        <p:spPr>
          <a:xfrm xmlns:a="http://schemas.openxmlformats.org/drawingml/2006/main">
            <a:off x="685800" y="1771650"/>
            <a:ext cx="10763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32B36"/>
                </a:solidFill>
                <a:latin typeface="Arial"/>
                <a:ea typeface="Arial"/>
                <a:cs typeface="Arial"/>
              </a:defRPr>
            </a:pPr>
            <a:r>
              <a:rPr sz="2475" b="0">
                <a:solidFill>
                  <a:srgbClr val="132B36"/>
                </a:solidFill>
                <a:latin typeface="Arial"/>
                <a:ea typeface="Arial"/>
                <a:cs typeface="Arial"/>
              </a:rPr>
              <a:t>1   Train the models using the training data</a:t>
            </a:r>
          </a:p>
          <a:p xmlns:a="http://schemas.openxmlformats.org/drawingml/2006/main">
            <a:pPr>
              <a:defRPr sz="2475" b="0">
                <a:solidFill>
                  <a:srgbClr val="132B36"/>
                </a:solidFill>
                <a:latin typeface="Arial"/>
                <a:ea typeface="Arial"/>
                <a:cs typeface="Arial"/>
              </a:defRPr>
            </a:pPr>
            <a:r>
              <a:rPr sz="2475" b="0">
                <a:solidFill>
                  <a:srgbClr val="132B36"/>
                </a:solidFill>
                <a:latin typeface="Arial"/>
                <a:ea typeface="Arial"/>
                <a:cs typeface="Arial"/>
              </a:rPr>
              <a:t>2   Compare their results on the validation data</a:t>
            </a:r>
          </a:p>
          <a:p xmlns:a="http://schemas.openxmlformats.org/drawingml/2006/main">
            <a:pPr>
              <a:defRPr sz="2475" b="0">
                <a:solidFill>
                  <a:srgbClr val="132B36"/>
                </a:solidFill>
                <a:latin typeface="Arial"/>
                <a:ea typeface="Arial"/>
                <a:cs typeface="Arial"/>
              </a:defRPr>
            </a:pPr>
            <a:r>
              <a:rPr sz="2475" b="0">
                <a:solidFill>
                  <a:srgbClr val="132B36"/>
                </a:solidFill>
                <a:latin typeface="Arial"/>
                <a:ea typeface="Arial"/>
                <a:cs typeface="Arial"/>
              </a:rPr>
              <a:t>3   Choose an alert cutoff based on misses and false alarms</a:t>
            </a:r>
          </a:p>
          <a:p xmlns:a="http://schemas.openxmlformats.org/drawingml/2006/main">
            <a:pPr>
              <a:defRPr sz="2475" b="0">
                <a:solidFill>
                  <a:srgbClr val="132B36"/>
                </a:solidFill>
                <a:latin typeface="Arial"/>
                <a:ea typeface="Arial"/>
                <a:cs typeface="Arial"/>
              </a:defRPr>
            </a:pPr>
            <a:r>
              <a:rPr sz="2475" b="0">
                <a:solidFill>
                  <a:srgbClr val="132B36"/>
                </a:solidFill>
                <a:latin typeface="Arial"/>
                <a:ea typeface="Arial"/>
                <a:cs typeface="Arial"/>
              </a:rPr>
              <a:t>4   Keep these choices fixed and check the test data once</a:t>
            </a:r>
          </a:p>
        </p:txBody>
      </p:sp>
      <p:sp>
        <p:nvSpPr>
          <p:cNvPr id="4" name="">
            <a:extLst xmlns:a="http://schemas.openxmlformats.org/drawingml/2006/main">
              <a:ext uri="{FF2B5EF4-FFF2-40B4-BE49-F238E27FC236}">
                <a16:creationId xmlns:a16="http://schemas.microsoft.com/office/drawing/2014/main" id="{95DE4B87-AEE9-4BAD-8738-30E81D70FAAC}"/>
              </a:ext>
            </a:extLst>
          </p:cNvPr>
          <p:cNvSpPr>
            <a:spLocks xmlns:a="http://schemas.openxmlformats.org/drawingml/2006/main" noGrp="1"/>
          </p:cNvSpPr>
          <p:nvPr/>
        </p:nvSpPr>
        <p:spPr>
          <a:xfrm xmlns:a="http://schemas.openxmlformats.org/drawingml/2006/main">
            <a:off x="685800" y="52101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96B"/>
                </a:solidFill>
                <a:latin typeface="Arial"/>
                <a:ea typeface="Arial"/>
                <a:cs typeface="Arial"/>
              </a:defRPr>
            </a:pPr>
            <a:r>
              <a:rPr sz="2250" b="1">
                <a:solidFill>
                  <a:srgbClr val="16796B"/>
                </a:solidFill>
                <a:latin typeface="Arial"/>
                <a:ea typeface="Arial"/>
                <a:cs typeface="Arial"/>
              </a:rPr>
              <a:t>Raise an alert when the model score is 0.13 or higher</a:t>
            </a:r>
          </a:p>
          <a:p xmlns:a="http://schemas.openxmlformats.org/drawingml/2006/main">
            <a:pPr>
              <a:defRPr sz="2250" b="1">
                <a:solidFill>
                  <a:srgbClr val="16796B"/>
                </a:solidFill>
                <a:latin typeface="Arial"/>
                <a:ea typeface="Arial"/>
                <a:cs typeface="Arial"/>
              </a:defRPr>
            </a:pPr>
            <a:r>
              <a:rPr sz="2250" b="1">
                <a:solidFill>
                  <a:srgbClr val="16796B"/>
                </a:solidFill>
                <a:latin typeface="Arial"/>
                <a:ea typeface="Arial"/>
                <a:cs typeface="Arial"/>
              </a:rPr>
              <a:t>Save the data preparation, model and prediction settings</a:t>
            </a:r>
          </a:p>
        </p:txBody>
      </p:sp>
    </p:spTree>
    <p:extLst>
      <p:ext uri="{BB962C8B-B14F-4D97-AF65-F5344CB8AC3E}">
        <p14:creationId xmlns:p14="http://schemas.microsoft.com/office/powerpoint/2010/main" val="605593756"/>
      </p:ext>
    </p:extLst>
  </p:cSld>
</p:sld>
</file>

<file path=ppt/slides/slide8.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312B4C5-E522-4B21-A38C-28C40F1039BB}"/>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How well did the model do?</a:t>
            </a:r>
          </a:p>
        </p:txBody>
      </p:sp>
      <p:sp>
        <p:nvSpPr>
          <p:cNvPr id="2" name="">
            <a:extLst xmlns:a="http://schemas.openxmlformats.org/drawingml/2006/main">
              <a:ext uri="{FF2B5EF4-FFF2-40B4-BE49-F238E27FC236}">
                <a16:creationId xmlns:a16="http://schemas.microsoft.com/office/drawing/2014/main" id="{FD4B00EC-C27E-495A-A5B6-61BBD12CE692}"/>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D7916400-CDAF-457F-B243-36AFBAAAF16D}"/>
              </a:ext>
            </a:extLst>
          </p:cNvPr>
          <p:cNvSpPr>
            <a:spLocks xmlns:a="http://schemas.openxmlformats.org/drawingml/2006/main" noGrp="1"/>
          </p:cNvSpPr>
          <p:nvPr/>
        </p:nvSpPr>
        <p:spPr>
          <a:xfrm xmlns:a="http://schemas.openxmlformats.org/drawingml/2006/main">
            <a:off x="685800" y="1781175"/>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796B"/>
                </a:solidFill>
                <a:latin typeface="Arial"/>
                <a:ea typeface="Arial"/>
                <a:cs typeface="Arial"/>
              </a:defRPr>
            </a:pPr>
            <a:r>
              <a:rPr sz="3300" b="1">
                <a:solidFill>
                  <a:srgbClr val="16796B"/>
                </a:solidFill>
                <a:latin typeface="Arial"/>
                <a:ea typeface="Arial"/>
                <a:cs typeface="Arial"/>
              </a:rPr>
              <a:t>88.2% recall</a:t>
            </a:r>
          </a:p>
        </p:txBody>
      </p:sp>
      <p:sp>
        <p:nvSpPr>
          <p:cNvPr id="4" name="">
            <a:extLst xmlns:a="http://schemas.openxmlformats.org/drawingml/2006/main">
              <a:ext uri="{FF2B5EF4-FFF2-40B4-BE49-F238E27FC236}">
                <a16:creationId xmlns:a16="http://schemas.microsoft.com/office/drawing/2014/main" id="{AEB1F853-5C0C-4A4F-8340-137291F50C70}"/>
              </a:ext>
            </a:extLst>
          </p:cNvPr>
          <p:cNvSpPr>
            <a:spLocks xmlns:a="http://schemas.openxmlformats.org/drawingml/2006/main" noGrp="1"/>
          </p:cNvSpPr>
          <p:nvPr/>
        </p:nvSpPr>
        <p:spPr>
          <a:xfrm xmlns:a="http://schemas.openxmlformats.org/drawingml/2006/main">
            <a:off x="685800" y="250507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60 of 68 failures detected</a:t>
            </a:r>
          </a:p>
        </p:txBody>
      </p:sp>
      <p:sp>
        <p:nvSpPr>
          <p:cNvPr id="5" name="">
            <a:extLst xmlns:a="http://schemas.openxmlformats.org/drawingml/2006/main">
              <a:ext uri="{FF2B5EF4-FFF2-40B4-BE49-F238E27FC236}">
                <a16:creationId xmlns:a16="http://schemas.microsoft.com/office/drawing/2014/main" id="{6FA29023-6554-4198-8F9A-E5E100774636}"/>
              </a:ext>
            </a:extLst>
          </p:cNvPr>
          <p:cNvSpPr>
            <a:spLocks xmlns:a="http://schemas.openxmlformats.org/drawingml/2006/main" noGrp="1"/>
          </p:cNvSpPr>
          <p:nvPr/>
        </p:nvSpPr>
        <p:spPr>
          <a:xfrm xmlns:a="http://schemas.openxmlformats.org/drawingml/2006/main">
            <a:off x="6524625" y="1781175"/>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796B"/>
                </a:solidFill>
                <a:latin typeface="Arial"/>
                <a:ea typeface="Arial"/>
                <a:cs typeface="Arial"/>
              </a:defRPr>
            </a:pPr>
            <a:r>
              <a:rPr sz="3300" b="1">
                <a:solidFill>
                  <a:srgbClr val="16796B"/>
                </a:solidFill>
                <a:latin typeface="Arial"/>
                <a:ea typeface="Arial"/>
                <a:cs typeface="Arial"/>
              </a:rPr>
              <a:t>31.6% precision</a:t>
            </a:r>
          </a:p>
        </p:txBody>
      </p:sp>
      <p:sp>
        <p:nvSpPr>
          <p:cNvPr id="6" name="">
            <a:extLst xmlns:a="http://schemas.openxmlformats.org/drawingml/2006/main">
              <a:ext uri="{FF2B5EF4-FFF2-40B4-BE49-F238E27FC236}">
                <a16:creationId xmlns:a16="http://schemas.microsoft.com/office/drawing/2014/main" id="{269C5E33-7779-4F90-9153-25CE3DFA65D4}"/>
              </a:ext>
            </a:extLst>
          </p:cNvPr>
          <p:cNvSpPr>
            <a:spLocks xmlns:a="http://schemas.openxmlformats.org/drawingml/2006/main" noGrp="1"/>
          </p:cNvSpPr>
          <p:nvPr/>
        </p:nvSpPr>
        <p:spPr>
          <a:xfrm xmlns:a="http://schemas.openxmlformats.org/drawingml/2006/main">
            <a:off x="6524625" y="250507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60 of 190 alerts were failures</a:t>
            </a:r>
          </a:p>
        </p:txBody>
      </p:sp>
      <p:sp>
        <p:nvSpPr>
          <p:cNvPr id="7" name="">
            <a:extLst xmlns:a="http://schemas.openxmlformats.org/drawingml/2006/main">
              <a:ext uri="{FF2B5EF4-FFF2-40B4-BE49-F238E27FC236}">
                <a16:creationId xmlns:a16="http://schemas.microsoft.com/office/drawing/2014/main" id="{C0E77C4E-4DFD-4665-A3E9-6F2B1D906CB9}"/>
              </a:ext>
            </a:extLst>
          </p:cNvPr>
          <p:cNvSpPr>
            <a:spLocks xmlns:a="http://schemas.openxmlformats.org/drawingml/2006/main" noGrp="1"/>
          </p:cNvSpPr>
          <p:nvPr/>
        </p:nvSpPr>
        <p:spPr>
          <a:xfrm xmlns:a="http://schemas.openxmlformats.org/drawingml/2006/main">
            <a:off x="685800" y="34861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32B36"/>
                </a:solidFill>
                <a:latin typeface="Arial"/>
                <a:ea typeface="Arial"/>
                <a:cs typeface="Arial"/>
              </a:defRPr>
            </a:pPr>
            <a:r>
              <a:rPr sz="2775" b="1">
                <a:solidFill>
                  <a:srgbClr val="132B36"/>
                </a:solidFill>
                <a:latin typeface="Arial"/>
                <a:ea typeface="Arial"/>
                <a:cs typeface="Arial"/>
              </a:rPr>
              <a:t>8 missed failures     130 false alarms</a:t>
            </a:r>
          </a:p>
        </p:txBody>
      </p:sp>
      <p:sp>
        <p:nvSpPr>
          <p:cNvPr id="8" name="">
            <a:extLst xmlns:a="http://schemas.openxmlformats.org/drawingml/2006/main">
              <a:ext uri="{FF2B5EF4-FFF2-40B4-BE49-F238E27FC236}">
                <a16:creationId xmlns:a16="http://schemas.microsoft.com/office/drawing/2014/main" id="{7209AE1C-46CC-4D70-81A9-FDF10EA77002}"/>
              </a:ext>
            </a:extLst>
          </p:cNvPr>
          <p:cNvSpPr>
            <a:spLocks xmlns:a="http://schemas.openxmlformats.org/drawingml/2006/main" noGrp="1"/>
          </p:cNvSpPr>
          <p:nvPr/>
        </p:nvSpPr>
        <p:spPr>
          <a:xfrm xmlns:a="http://schemas.openxmlformats.org/drawingml/2006/main">
            <a:off x="685800" y="44291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32B36"/>
                </a:solidFill>
                <a:latin typeface="Arial"/>
                <a:ea typeface="Arial"/>
                <a:cs typeface="Arial"/>
              </a:defRPr>
            </a:pPr>
            <a:r>
              <a:rPr sz="2325" b="0">
                <a:solidFill>
                  <a:srgbClr val="132B36"/>
                </a:solidFill>
                <a:latin typeface="Arial"/>
                <a:ea typeface="Arial"/>
                <a:cs typeface="Arial"/>
              </a:rPr>
              <a:t>Accuracy 93.1%     F1 0.465</a:t>
            </a:r>
          </a:p>
          <a:p xmlns:a="http://schemas.openxmlformats.org/drawingml/2006/main">
            <a:pPr>
              <a:defRPr sz="2325" b="0">
                <a:solidFill>
                  <a:srgbClr val="132B36"/>
                </a:solidFill>
                <a:latin typeface="Arial"/>
                <a:ea typeface="Arial"/>
                <a:cs typeface="Arial"/>
              </a:defRPr>
            </a:pPr>
            <a:r>
              <a:rPr sz="2325" b="0">
                <a:solidFill>
                  <a:srgbClr val="132B36"/>
                </a:solidFill>
                <a:latin typeface="Arial"/>
                <a:ea typeface="Arial"/>
                <a:cs typeface="Arial"/>
              </a:rPr>
              <a:t>Average precision 0.688     ROC-AUC 0.974</a:t>
            </a:r>
          </a:p>
        </p:txBody>
      </p:sp>
      <p:sp>
        <p:nvSpPr>
          <p:cNvPr id="9" name="">
            <a:extLst xmlns:a="http://schemas.openxmlformats.org/drawingml/2006/main">
              <a:ext uri="{FF2B5EF4-FFF2-40B4-BE49-F238E27FC236}">
                <a16:creationId xmlns:a16="http://schemas.microsoft.com/office/drawing/2014/main" id="{92C6021D-8EFA-41E3-937B-6832571E060E}"/>
              </a:ext>
            </a:extLst>
          </p:cNvPr>
          <p:cNvSpPr>
            <a:spLocks xmlns:a="http://schemas.openxmlformats.org/drawingml/2006/main" noGrp="1"/>
          </p:cNvSpPr>
          <p:nvPr/>
        </p:nvSpPr>
        <p:spPr>
          <a:xfrm xmlns:a="http://schemas.openxmlformats.org/drawingml/2006/main">
            <a:off x="685800" y="5857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96B"/>
                </a:solidFill>
                <a:latin typeface="Arial"/>
                <a:ea typeface="Arial"/>
                <a:cs typeface="Arial"/>
              </a:defRPr>
            </a:pPr>
            <a:r>
              <a:rPr sz="2025" b="1">
                <a:solidFill>
                  <a:srgbClr val="16796B"/>
                </a:solidFill>
                <a:latin typeface="Arial"/>
                <a:ea typeface="Arial"/>
                <a:cs typeface="Arial"/>
              </a:rPr>
              <a:t>A high accuracy score can still hide missed failures</a:t>
            </a:r>
          </a:p>
        </p:txBody>
      </p:sp>
    </p:spTree>
    <p:extLst>
      <p:ext uri="{BB962C8B-B14F-4D97-AF65-F5344CB8AC3E}">
        <p14:creationId xmlns:p14="http://schemas.microsoft.com/office/powerpoint/2010/main" val="144990109"/>
      </p:ext>
    </p:extLst>
  </p:cSld>
</p:sld>
</file>

<file path=ppt/slides/slide9.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BF5A119-BBCA-4BDD-8F40-F36EB6BAC984}"/>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Making predictions with Kafka</a:t>
            </a:r>
          </a:p>
        </p:txBody>
      </p:sp>
      <p:sp>
        <p:nvSpPr>
          <p:cNvPr id="2" name="">
            <a:extLst xmlns:a="http://schemas.openxmlformats.org/drawingml/2006/main">
              <a:ext uri="{FF2B5EF4-FFF2-40B4-BE49-F238E27FC236}">
                <a16:creationId xmlns:a16="http://schemas.microsoft.com/office/drawing/2014/main" id="{CC54928C-1B9C-426F-9533-B44B885A39DF}"/>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8A1FE358-29EB-4116-94EC-97072A8B374B}"/>
              </a:ext>
            </a:extLst>
          </p:cNvPr>
          <p:cNvSpPr>
            <a:spLocks xmlns:a="http://schemas.openxmlformats.org/drawingml/2006/main" noGrp="1"/>
          </p:cNvSpPr>
          <p:nvPr/>
        </p:nvSpPr>
        <p:spPr>
          <a:xfrm xmlns:a="http://schemas.openxmlformats.org/drawingml/2006/main">
            <a:off x="685800" y="1714500"/>
            <a:ext cx="2667000" cy="904875"/>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producer.py</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Sends test rows</a:t>
            </a:r>
          </a:p>
        </p:txBody>
      </p:sp>
      <p:sp>
        <p:nvSpPr>
          <p:cNvPr id="4" name="">
            <a:extLst xmlns:a="http://schemas.openxmlformats.org/drawingml/2006/main">
              <a:ext uri="{FF2B5EF4-FFF2-40B4-BE49-F238E27FC236}">
                <a16:creationId xmlns:a16="http://schemas.microsoft.com/office/drawing/2014/main" id="{5EADD2BE-9CAF-4EC4-8574-2987D09BD0DB}"/>
              </a:ext>
            </a:extLst>
          </p:cNvPr>
          <p:cNvSpPr>
            <a:spLocks xmlns:a="http://schemas.openxmlformats.org/drawingml/2006/main" noGrp="1"/>
          </p:cNvSpPr>
          <p:nvPr/>
        </p:nvSpPr>
        <p:spPr>
          <a:xfrm xmlns:a="http://schemas.openxmlformats.org/drawingml/2006/main">
            <a:off x="4552950" y="1714500"/>
            <a:ext cx="2952750" cy="904875"/>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Kafka topic</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machine.telemetry</a:t>
            </a:r>
          </a:p>
        </p:txBody>
      </p:sp>
      <p:sp>
        <p:nvSpPr>
          <p:cNvPr id="5" name="">
            <a:extLst xmlns:a="http://schemas.openxmlformats.org/drawingml/2006/main">
              <a:ext uri="{FF2B5EF4-FFF2-40B4-BE49-F238E27FC236}">
                <a16:creationId xmlns:a16="http://schemas.microsoft.com/office/drawing/2014/main" id="{E4511A6B-EBF1-46A5-9155-3DDFD7B88FDC}"/>
              </a:ext>
            </a:extLst>
          </p:cNvPr>
          <p:cNvSpPr>
            <a:spLocks xmlns:a="http://schemas.openxmlformats.org/drawingml/2006/main" noGrp="1"/>
          </p:cNvSpPr>
          <p:nvPr/>
        </p:nvSpPr>
        <p:spPr>
          <a:xfrm xmlns:a="http://schemas.openxmlformats.org/drawingml/2006/main">
            <a:off x="8705850" y="1714500"/>
            <a:ext cx="2762250" cy="904875"/>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consumer.py</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Runs the saved model</a:t>
            </a:r>
          </a:p>
        </p:txBody>
      </p:sp>
      <p:cxnSp>
        <p:nvCxnSpPr>
          <p:cNvPr id="15" name=""/>
          <p:cNvCxnSpPr>
            <a:stCxn xmlns:a="http://schemas.openxmlformats.org/drawingml/2006/main" id="3" idx="3"/>
            <a:endCxn xmlns:a="http://schemas.openxmlformats.org/drawingml/2006/main" id="4" idx="1"/>
          </p:cNvCxnSpPr>
          <p:nvPr/>
        </p:nvCxnSpPr>
        <p:spPr>
          <a:xfrm xmlns:a="http://schemas.openxmlformats.org/drawingml/2006/main">
            <a:off x="3352800" y="2166938"/>
            <a:ext cx="1200150" cy="0"/>
          </a:xfrm>
          <a:prstGeom xmlns:a="http://schemas.openxmlformats.org/drawingml/2006/main" prst="straightConnector1">
            <a:avLst/>
          </a:prstGeom>
          <a:ln xmlns:a="http://schemas.openxmlformats.org/drawingml/2006/main" w="19050">
            <a:solidFill>
              <a:srgbClr val="16796B"/>
            </a:solidFill>
            <a:tailEnd type="triangle" w="med" len="med"/>
          </a:ln>
        </p:spPr>
      </p:cxnSp>
      <p:cxnSp>
        <p:nvCxnSpPr>
          <p:cNvPr id="16" name=""/>
          <p:cNvCxnSpPr>
            <a:stCxn xmlns:a="http://schemas.openxmlformats.org/drawingml/2006/main" id="4" idx="3"/>
            <a:endCxn xmlns:a="http://schemas.openxmlformats.org/drawingml/2006/main" id="5" idx="1"/>
          </p:cNvCxnSpPr>
          <p:nvPr/>
        </p:nvCxnSpPr>
        <p:spPr>
          <a:xfrm xmlns:a="http://schemas.openxmlformats.org/drawingml/2006/main">
            <a:off x="7505700" y="2166938"/>
            <a:ext cx="1200150" cy="0"/>
          </a:xfrm>
          <a:prstGeom xmlns:a="http://schemas.openxmlformats.org/drawingml/2006/main" prst="straightConnector1">
            <a:avLst/>
          </a:prstGeom>
          <a:ln xmlns:a="http://schemas.openxmlformats.org/drawingml/2006/main" w="19050">
            <a:solidFill>
              <a:srgbClr val="16796B"/>
            </a:solidFill>
            <a:tailEnd type="triangle" w="med" len="med"/>
          </a:ln>
        </p:spPr>
      </p:cxnSp>
      <p:sp>
        <p:nvSpPr>
          <p:cNvPr id="8" name="">
            <a:extLst xmlns:a="http://schemas.openxmlformats.org/drawingml/2006/main">
              <a:ext uri="{FF2B5EF4-FFF2-40B4-BE49-F238E27FC236}">
                <a16:creationId xmlns:a16="http://schemas.microsoft.com/office/drawing/2014/main" id="{675009BF-0944-45AD-99B9-1AC6318B8EF4}"/>
              </a:ext>
            </a:extLst>
          </p:cNvPr>
          <p:cNvSpPr>
            <a:spLocks xmlns:a="http://schemas.openxmlformats.org/drawingml/2006/main" noGrp="1"/>
          </p:cNvSpPr>
          <p:nvPr/>
        </p:nvSpPr>
        <p:spPr>
          <a:xfrm xmlns:a="http://schemas.openxmlformats.org/drawingml/2006/main">
            <a:off x="685800" y="323850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32B36"/>
                </a:solidFill>
                <a:latin typeface="Arial"/>
                <a:ea typeface="Arial"/>
                <a:cs typeface="Arial"/>
              </a:defRPr>
            </a:pPr>
            <a:r>
              <a:rPr sz="2325" b="1">
                <a:solidFill>
                  <a:srgbClr val="132B36"/>
                </a:solidFill>
                <a:latin typeface="Arial"/>
                <a:ea typeface="Arial"/>
                <a:cs typeface="Arial"/>
              </a:rPr>
              <a:t>python src/consumer.py --metrics-every 20</a:t>
            </a:r>
          </a:p>
          <a:p xmlns:a="http://schemas.openxmlformats.org/drawingml/2006/main">
            <a:pPr>
              <a:defRPr sz="2325" b="1">
                <a:solidFill>
                  <a:srgbClr val="132B36"/>
                </a:solidFill>
                <a:latin typeface="Arial"/>
                <a:ea typeface="Arial"/>
                <a:cs typeface="Arial"/>
              </a:defRPr>
            </a:pPr>
            <a:r>
              <a:rPr sz="2325" b="1">
                <a:solidFill>
                  <a:srgbClr val="132B36"/>
                </a:solidFill>
                <a:latin typeface="Arial"/>
                <a:ea typeface="Arial"/>
                <a:cs typeface="Arial"/>
              </a:rPr>
              <a:t>python src/producer.py --rate 5</a:t>
            </a:r>
          </a:p>
        </p:txBody>
      </p:sp>
      <p:sp>
        <p:nvSpPr>
          <p:cNvPr id="9" name="">
            <a:extLst xmlns:a="http://schemas.openxmlformats.org/drawingml/2006/main">
              <a:ext uri="{FF2B5EF4-FFF2-40B4-BE49-F238E27FC236}">
                <a16:creationId xmlns:a16="http://schemas.microsoft.com/office/drawing/2014/main" id="{8C7CDA6A-947C-4168-86FE-BE54D0DE73DD}"/>
              </a:ext>
            </a:extLst>
          </p:cNvPr>
          <p:cNvSpPr>
            <a:spLocks xmlns:a="http://schemas.openxmlformats.org/drawingml/2006/main" noGrp="1"/>
          </p:cNvSpPr>
          <p:nvPr/>
        </p:nvSpPr>
        <p:spPr>
          <a:xfrm xmlns:a="http://schemas.openxmlformats.org/drawingml/2006/main">
            <a:off x="685800" y="47625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See the model score, prediction, known answer and results so far</a:t>
            </a:r>
          </a:p>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The model sees the readings. We use the known answer to check it.</a:t>
            </a:r>
          </a:p>
        </p:txBody>
      </p:sp>
    </p:spTree>
    <p:extLst>
      <p:ext uri="{BB962C8B-B14F-4D97-AF65-F5344CB8AC3E}">
        <p14:creationId xmlns:p14="http://schemas.microsoft.com/office/powerpoint/2010/main" val="1306646722"/>
      </p:ext>
    </p:extLst>
  </p:cSld>
</p:sld>
</file>

<file path=ppt/slides/slide10.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874BA1B-0783-427F-AAF2-29FEDC7DF5D8}"/>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An AI assistant that uses the model</a:t>
            </a:r>
          </a:p>
        </p:txBody>
      </p:sp>
      <p:sp>
        <p:nvSpPr>
          <p:cNvPr id="2" name="">
            <a:extLst xmlns:a="http://schemas.openxmlformats.org/drawingml/2006/main">
              <a:ext uri="{FF2B5EF4-FFF2-40B4-BE49-F238E27FC236}">
                <a16:creationId xmlns:a16="http://schemas.microsoft.com/office/drawing/2014/main" id="{0789B7E2-C464-404D-8EE8-3A32CF92A22F}"/>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4FAA5959-DA2A-4B1A-AE27-3D36C4DAA4F1}"/>
              </a:ext>
            </a:extLst>
          </p:cNvPr>
          <p:cNvSpPr>
            <a:spLocks xmlns:a="http://schemas.openxmlformats.org/drawingml/2006/main" noGrp="1"/>
          </p:cNvSpPr>
          <p:nvPr/>
        </p:nvSpPr>
        <p:spPr>
          <a:xfrm xmlns:a="http://schemas.openxmlformats.org/drawingml/2006/main">
            <a:off x="609600" y="14382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96B"/>
                </a:solidFill>
                <a:latin typeface="Arial"/>
                <a:ea typeface="Arial"/>
                <a:cs typeface="Arial"/>
              </a:defRPr>
            </a:pPr>
            <a:r>
              <a:rPr sz="2025" b="1">
                <a:solidFill>
                  <a:srgbClr val="16796B"/>
                </a:solidFill>
                <a:latin typeface="Arial"/>
                <a:ea typeface="Arial"/>
                <a:cs typeface="Arial"/>
              </a:rPr>
              <a:t>Proposed design: the assistant calls a prediction tool</a:t>
            </a:r>
          </a:p>
        </p:txBody>
      </p:sp>
      <p:sp>
        <p:nvSpPr>
          <p:cNvPr id="4" name="">
            <a:extLst xmlns:a="http://schemas.openxmlformats.org/drawingml/2006/main">
              <a:ext uri="{FF2B5EF4-FFF2-40B4-BE49-F238E27FC236}">
                <a16:creationId xmlns:a16="http://schemas.microsoft.com/office/drawing/2014/main" id="{58916C5B-AEAD-4CFA-AF9D-9AC1F769D6DF}"/>
              </a:ext>
            </a:extLst>
          </p:cNvPr>
          <p:cNvSpPr>
            <a:spLocks xmlns:a="http://schemas.openxmlformats.org/drawingml/2006/main" noGrp="1"/>
          </p:cNvSpPr>
          <p:nvPr/>
        </p:nvSpPr>
        <p:spPr>
          <a:xfrm xmlns:a="http://schemas.openxmlformats.org/drawingml/2006/main">
            <a:off x="609600" y="2057400"/>
            <a:ext cx="2190750" cy="8382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User question</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 machine readings</a:t>
            </a:r>
          </a:p>
        </p:txBody>
      </p:sp>
      <p:sp>
        <p:nvSpPr>
          <p:cNvPr id="5" name="">
            <a:extLst xmlns:a="http://schemas.openxmlformats.org/drawingml/2006/main">
              <a:ext uri="{FF2B5EF4-FFF2-40B4-BE49-F238E27FC236}">
                <a16:creationId xmlns:a16="http://schemas.microsoft.com/office/drawing/2014/main" id="{D1D100F9-F042-4333-9E67-5A6EFA59F29A}"/>
              </a:ext>
            </a:extLst>
          </p:cNvPr>
          <p:cNvSpPr>
            <a:spLocks xmlns:a="http://schemas.openxmlformats.org/drawingml/2006/main" noGrp="1"/>
          </p:cNvSpPr>
          <p:nvPr/>
        </p:nvSpPr>
        <p:spPr>
          <a:xfrm xmlns:a="http://schemas.openxmlformats.org/drawingml/2006/main">
            <a:off x="3467100" y="2057400"/>
            <a:ext cx="3143250" cy="8382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AI assistant (LLM)</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Knows the available tool</a:t>
            </a:r>
          </a:p>
        </p:txBody>
      </p:sp>
      <p:sp>
        <p:nvSpPr>
          <p:cNvPr id="6" name="">
            <a:extLst xmlns:a="http://schemas.openxmlformats.org/drawingml/2006/main">
              <a:ext uri="{FF2B5EF4-FFF2-40B4-BE49-F238E27FC236}">
                <a16:creationId xmlns:a16="http://schemas.microsoft.com/office/drawing/2014/main" id="{A6F0BACC-B0A3-4EDB-BD1D-591007C4CBF7}"/>
              </a:ext>
            </a:extLst>
          </p:cNvPr>
          <p:cNvSpPr>
            <a:spLocks xmlns:a="http://schemas.openxmlformats.org/drawingml/2006/main" noGrp="1"/>
          </p:cNvSpPr>
          <p:nvPr/>
        </p:nvSpPr>
        <p:spPr>
          <a:xfrm xmlns:a="http://schemas.openxmlformats.org/drawingml/2006/main">
            <a:off x="7277100" y="2057400"/>
            <a:ext cx="4191000" cy="8382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Prediction tool</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Saved model + settings</a:t>
            </a:r>
          </a:p>
        </p:txBody>
      </p:sp>
      <p:cxnSp>
        <p:nvCxnSpPr>
          <p:cNvPr id="27" name=""/>
          <p:cNvCxnSpPr>
            <a:stCxn xmlns:a="http://schemas.openxmlformats.org/drawingml/2006/main" id="4" idx="3"/>
            <a:endCxn xmlns:a="http://schemas.openxmlformats.org/drawingml/2006/main" id="5" idx="1"/>
          </p:cNvCxnSpPr>
          <p:nvPr/>
        </p:nvCxnSpPr>
        <p:spPr>
          <a:xfrm xmlns:a="http://schemas.openxmlformats.org/drawingml/2006/main">
            <a:off x="2800350" y="2476500"/>
            <a:ext cx="666750" cy="0"/>
          </a:xfrm>
          <a:prstGeom xmlns:a="http://schemas.openxmlformats.org/drawingml/2006/main" prst="straightConnector1">
            <a:avLst/>
          </a:prstGeom>
          <a:ln xmlns:a="http://schemas.openxmlformats.org/drawingml/2006/main" w="19050">
            <a:solidFill>
              <a:srgbClr val="16796B"/>
            </a:solidFill>
            <a:tailEnd type="triangle" w="med" len="med"/>
          </a:ln>
        </p:spPr>
      </p:cxnSp>
      <p:cxnSp>
        <p:nvCxnSpPr>
          <p:cNvPr id="28" name=""/>
          <p:cNvCxnSpPr>
            <a:stCxn xmlns:a="http://schemas.openxmlformats.org/drawingml/2006/main" id="5" idx="3"/>
            <a:endCxn xmlns:a="http://schemas.openxmlformats.org/drawingml/2006/main" id="6" idx="1"/>
          </p:cNvCxnSpPr>
          <p:nvPr/>
        </p:nvCxnSpPr>
        <p:spPr>
          <a:xfrm xmlns:a="http://schemas.openxmlformats.org/drawingml/2006/main">
            <a:off x="6610350" y="2476500"/>
            <a:ext cx="666750" cy="0"/>
          </a:xfrm>
          <a:prstGeom xmlns:a="http://schemas.openxmlformats.org/drawingml/2006/main" prst="straightConnector1">
            <a:avLst/>
          </a:prstGeom>
          <a:ln xmlns:a="http://schemas.openxmlformats.org/drawingml/2006/main" w="19050">
            <a:solidFill>
              <a:srgbClr val="16796B"/>
            </a:solidFill>
            <a:tailEnd type="triangle" w="med" len="med"/>
          </a:ln>
        </p:spPr>
      </p:cxnSp>
      <p:sp>
        <p:nvSpPr>
          <p:cNvPr id="9" name="">
            <a:extLst xmlns:a="http://schemas.openxmlformats.org/drawingml/2006/main">
              <a:ext uri="{FF2B5EF4-FFF2-40B4-BE49-F238E27FC236}">
                <a16:creationId xmlns:a16="http://schemas.microsoft.com/office/drawing/2014/main" id="{B4CF5280-2924-4116-A799-2ECA18017A92}"/>
              </a:ext>
            </a:extLst>
          </p:cNvPr>
          <p:cNvSpPr>
            <a:spLocks xmlns:a="http://schemas.openxmlformats.org/drawingml/2006/main" noGrp="1"/>
          </p:cNvSpPr>
          <p:nvPr/>
        </p:nvSpPr>
        <p:spPr>
          <a:xfrm xmlns:a="http://schemas.openxmlformats.org/drawingml/2006/main">
            <a:off x="609600" y="320992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96B"/>
                </a:solidFill>
                <a:latin typeface="Arial"/>
                <a:ea typeface="Arial"/>
                <a:cs typeface="Arial"/>
              </a:defRPr>
            </a:pPr>
            <a:r>
              <a:rPr sz="2025" b="1">
                <a:solidFill>
                  <a:srgbClr val="16796B"/>
                </a:solidFill>
                <a:latin typeface="Arial"/>
                <a:ea typeface="Arial"/>
                <a:cs typeface="Arial"/>
              </a:rPr>
              <a:t>Steps for one request (DAG)</a:t>
            </a:r>
          </a:p>
        </p:txBody>
      </p:sp>
      <p:sp>
        <p:nvSpPr>
          <p:cNvPr id="10" name="">
            <a:extLst xmlns:a="http://schemas.openxmlformats.org/drawingml/2006/main">
              <a:ext uri="{FF2B5EF4-FFF2-40B4-BE49-F238E27FC236}">
                <a16:creationId xmlns:a16="http://schemas.microsoft.com/office/drawing/2014/main" id="{695F29F2-7906-45DB-97C9-82A05DA64897}"/>
              </a:ext>
            </a:extLst>
          </p:cNvPr>
          <p:cNvSpPr>
            <a:spLocks xmlns:a="http://schemas.openxmlformats.org/drawingml/2006/main" noGrp="1"/>
          </p:cNvSpPr>
          <p:nvPr/>
        </p:nvSpPr>
        <p:spPr>
          <a:xfrm xmlns:a="http://schemas.openxmlformats.org/drawingml/2006/main">
            <a:off x="609600" y="3810000"/>
            <a:ext cx="2190750" cy="6096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Choose the tool</a:t>
            </a:r>
          </a:p>
        </p:txBody>
      </p:sp>
      <p:sp>
        <p:nvSpPr>
          <p:cNvPr id="11" name="">
            <a:extLst xmlns:a="http://schemas.openxmlformats.org/drawingml/2006/main">
              <a:ext uri="{FF2B5EF4-FFF2-40B4-BE49-F238E27FC236}">
                <a16:creationId xmlns:a16="http://schemas.microsoft.com/office/drawing/2014/main" id="{A96BF079-04DD-44C3-B2D7-833B0F91F89D}"/>
              </a:ext>
            </a:extLst>
          </p:cNvPr>
          <p:cNvSpPr>
            <a:spLocks xmlns:a="http://schemas.openxmlformats.org/drawingml/2006/main" noGrp="1"/>
          </p:cNvSpPr>
          <p:nvPr/>
        </p:nvSpPr>
        <p:spPr>
          <a:xfrm xmlns:a="http://schemas.openxmlformats.org/drawingml/2006/main">
            <a:off x="3467100" y="3810000"/>
            <a:ext cx="3143250" cy="6096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Check inputs + predict</a:t>
            </a:r>
          </a:p>
        </p:txBody>
      </p:sp>
      <p:sp>
        <p:nvSpPr>
          <p:cNvPr id="12" name="">
            <a:extLst xmlns:a="http://schemas.openxmlformats.org/drawingml/2006/main">
              <a:ext uri="{FF2B5EF4-FFF2-40B4-BE49-F238E27FC236}">
                <a16:creationId xmlns:a16="http://schemas.microsoft.com/office/drawing/2014/main" id="{B9980093-D25F-4676-8A95-3850D72EADED}"/>
              </a:ext>
            </a:extLst>
          </p:cNvPr>
          <p:cNvSpPr>
            <a:spLocks xmlns:a="http://schemas.openxmlformats.org/drawingml/2006/main" noGrp="1"/>
          </p:cNvSpPr>
          <p:nvPr/>
        </p:nvSpPr>
        <p:spPr>
          <a:xfrm xmlns:a="http://schemas.openxmlformats.org/drawingml/2006/main">
            <a:off x="7277100" y="3810000"/>
            <a:ext cx="2238375" cy="6096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Explain result</a:t>
            </a:r>
          </a:p>
        </p:txBody>
      </p:sp>
      <p:cxnSp>
        <p:nvCxnSpPr>
          <p:cNvPr id="33" name=""/>
          <p:cNvCxnSpPr>
            <a:stCxn xmlns:a="http://schemas.openxmlformats.org/drawingml/2006/main" id="10" idx="3"/>
            <a:endCxn xmlns:a="http://schemas.openxmlformats.org/drawingml/2006/main" id="11" idx="1"/>
          </p:cNvCxnSpPr>
          <p:nvPr/>
        </p:nvCxnSpPr>
        <p:spPr>
          <a:xfrm xmlns:a="http://schemas.openxmlformats.org/drawingml/2006/main">
            <a:off x="2800350" y="4114800"/>
            <a:ext cx="666750" cy="0"/>
          </a:xfrm>
          <a:prstGeom xmlns:a="http://schemas.openxmlformats.org/drawingml/2006/main" prst="straightConnector1">
            <a:avLst/>
          </a:prstGeom>
          <a:ln xmlns:a="http://schemas.openxmlformats.org/drawingml/2006/main" w="19050">
            <a:solidFill>
              <a:srgbClr val="16796B"/>
            </a:solidFill>
            <a:tailEnd type="triangle" w="med" len="med"/>
          </a:ln>
        </p:spPr>
      </p:cxnSp>
      <p:cxnSp>
        <p:nvCxnSpPr>
          <p:cNvPr id="34" name=""/>
          <p:cNvCxnSpPr>
            <a:stCxn xmlns:a="http://schemas.openxmlformats.org/drawingml/2006/main" id="11" idx="3"/>
            <a:endCxn xmlns:a="http://schemas.openxmlformats.org/drawingml/2006/main" id="12" idx="1"/>
          </p:cNvCxnSpPr>
          <p:nvPr/>
        </p:nvCxnSpPr>
        <p:spPr>
          <a:xfrm xmlns:a="http://schemas.openxmlformats.org/drawingml/2006/main">
            <a:off x="6610350" y="4114800"/>
            <a:ext cx="666750" cy="0"/>
          </a:xfrm>
          <a:prstGeom xmlns:a="http://schemas.openxmlformats.org/drawingml/2006/main" prst="straightConnector1">
            <a:avLst/>
          </a:prstGeom>
          <a:ln xmlns:a="http://schemas.openxmlformats.org/drawingml/2006/main" w="19050">
            <a:solidFill>
              <a:srgbClr val="16796B"/>
            </a:solidFill>
            <a:tailEnd type="triangle" w="med" len="med"/>
          </a:ln>
        </p:spPr>
      </p:cxnSp>
      <p:sp>
        <p:nvSpPr>
          <p:cNvPr id="15" name="">
            <a:extLst xmlns:a="http://schemas.openxmlformats.org/drawingml/2006/main">
              <a:ext uri="{FF2B5EF4-FFF2-40B4-BE49-F238E27FC236}">
                <a16:creationId xmlns:a16="http://schemas.microsoft.com/office/drawing/2014/main" id="{F71A0142-2DE9-44D7-B057-AF99B35B7145}"/>
              </a:ext>
            </a:extLst>
          </p:cNvPr>
          <p:cNvSpPr>
            <a:spLocks xmlns:a="http://schemas.openxmlformats.org/drawingml/2006/main" noGrp="1"/>
          </p:cNvSpPr>
          <p:nvPr/>
        </p:nvSpPr>
        <p:spPr>
          <a:xfrm xmlns:a="http://schemas.openxmlformats.org/drawingml/2006/main">
            <a:off x="3467100" y="4933950"/>
            <a:ext cx="3143250" cy="7239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If something is wrong:</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ask for details or show error</a:t>
            </a:r>
          </a:p>
        </p:txBody>
      </p:sp>
      <p:cxnSp>
        <p:nvCxnSpPr>
          <p:cNvPr id="36" name=""/>
          <p:cNvCxnSpPr>
            <a:stCxn xmlns:a="http://schemas.openxmlformats.org/drawingml/2006/main" id="11" idx="2"/>
            <a:endCxn xmlns:a="http://schemas.openxmlformats.org/drawingml/2006/main" id="15" idx="0"/>
          </p:cNvCxnSpPr>
          <p:nvPr/>
        </p:nvCxnSpPr>
        <p:spPr>
          <a:xfrm xmlns:a="http://schemas.openxmlformats.org/drawingml/2006/main">
            <a:off x="5038725" y="4419600"/>
            <a:ext cx="0" cy="514350"/>
          </a:xfrm>
          <a:prstGeom xmlns:a="http://schemas.openxmlformats.org/drawingml/2006/main" prst="straightConnector1">
            <a:avLst/>
          </a:prstGeom>
          <a:ln xmlns:a="http://schemas.openxmlformats.org/drawingml/2006/main" w="19050">
            <a:solidFill>
              <a:srgbClr val="16796B"/>
            </a:solidFill>
            <a:tailEnd type="triangle" w="med" len="med"/>
          </a:ln>
        </p:spPr>
      </p:cxnSp>
      <p:sp>
        <p:nvSpPr>
          <p:cNvPr id="17" name="">
            <a:extLst xmlns:a="http://schemas.openxmlformats.org/drawingml/2006/main">
              <a:ext uri="{FF2B5EF4-FFF2-40B4-BE49-F238E27FC236}">
                <a16:creationId xmlns:a16="http://schemas.microsoft.com/office/drawing/2014/main" id="{39F2556C-FF51-440E-921F-9633F2D8D527}"/>
              </a:ext>
            </a:extLst>
          </p:cNvPr>
          <p:cNvSpPr>
            <a:spLocks xmlns:a="http://schemas.openxmlformats.org/drawingml/2006/main" noGrp="1"/>
          </p:cNvSpPr>
          <p:nvPr/>
        </p:nvSpPr>
        <p:spPr>
          <a:xfrm xmlns:a="http://schemas.openxmlformats.org/drawingml/2006/main">
            <a:off x="7277100" y="4933950"/>
            <a:ext cx="4191000" cy="7239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Plain-language answer +</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original model result</a:t>
            </a:r>
          </a:p>
        </p:txBody>
      </p:sp>
      <p:cxnSp>
        <p:nvCxnSpPr>
          <p:cNvPr id="38" name=""/>
          <p:cNvCxnSpPr>
            <a:stCxn xmlns:a="http://schemas.openxmlformats.org/drawingml/2006/main" id="12" idx="2"/>
            <a:endCxn xmlns:a="http://schemas.openxmlformats.org/drawingml/2006/main" id="17" idx="0"/>
          </p:cNvCxnSpPr>
          <p:nvPr/>
        </p:nvCxnSpPr>
        <p:spPr>
          <a:xfrm xmlns:a="http://schemas.openxmlformats.org/drawingml/2006/main">
            <a:off x="8396288" y="4419600"/>
            <a:ext cx="976313" cy="514350"/>
          </a:xfrm>
          <a:prstGeom xmlns:a="http://schemas.openxmlformats.org/drawingml/2006/main" prst="bentConnector4">
            <a:avLst>
              <a:gd name="adj1" fmla="val 0"/>
              <a:gd name="adj2" fmla="val 50000"/>
            </a:avLst>
          </a:prstGeom>
          <a:ln xmlns:a="http://schemas.openxmlformats.org/drawingml/2006/main" w="19050">
            <a:solidFill>
              <a:srgbClr val="16796B"/>
            </a:solidFill>
            <a:tailEnd type="triangle" w="med" len="med"/>
          </a:ln>
        </p:spPr>
      </p:cxnSp>
      <p:cxnSp>
        <p:nvCxnSpPr>
          <p:cNvPr id="39" name=""/>
          <p:cNvCxnSpPr>
            <a:stCxn xmlns:a="http://schemas.openxmlformats.org/drawingml/2006/main" id="11" idx="3"/>
            <a:endCxn xmlns:a="http://schemas.openxmlformats.org/drawingml/2006/main" id="17" idx="1"/>
          </p:cNvCxnSpPr>
          <p:nvPr/>
        </p:nvCxnSpPr>
        <p:spPr>
          <a:xfrm xmlns:a="http://schemas.openxmlformats.org/drawingml/2006/main">
            <a:off x="6610350" y="4114800"/>
            <a:ext cx="666750" cy="1181100"/>
          </a:xfrm>
          <a:prstGeom xmlns:a="http://schemas.openxmlformats.org/drawingml/2006/main" prst="bentConnector3">
            <a:avLst>
              <a:gd name="adj1" fmla="val 50000"/>
            </a:avLst>
          </a:prstGeom>
          <a:ln xmlns:a="http://schemas.openxmlformats.org/drawingml/2006/main" w="19050">
            <a:solidFill>
              <a:srgbClr val="16796B"/>
            </a:solidFill>
            <a:tailEnd type="triangle" w="med" len="med"/>
          </a:ln>
        </p:spPr>
      </p:cxnSp>
      <p:sp>
        <p:nvSpPr>
          <p:cNvPr id="20" name="">
            <a:extLst xmlns:a="http://schemas.openxmlformats.org/drawingml/2006/main">
              <a:ext uri="{FF2B5EF4-FFF2-40B4-BE49-F238E27FC236}">
                <a16:creationId xmlns:a16="http://schemas.microsoft.com/office/drawing/2014/main" id="{F5D78474-67F6-49CF-85A6-8A6C36861C8A}"/>
              </a:ext>
            </a:extLst>
          </p:cNvPr>
          <p:cNvSpPr>
            <a:spLocks xmlns:a="http://schemas.openxmlformats.org/drawingml/2006/main" noGrp="1"/>
          </p:cNvSpPr>
          <p:nvPr/>
        </p:nvSpPr>
        <p:spPr>
          <a:xfrm xmlns:a="http://schemas.openxmlformats.org/drawingml/2006/main">
            <a:off x="609600" y="60007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796B"/>
                </a:solidFill>
                <a:latin typeface="Arial"/>
                <a:ea typeface="Arial"/>
                <a:cs typeface="Arial"/>
              </a:defRPr>
            </a:pPr>
            <a:r>
              <a:rPr sz="1800" b="0">
                <a:solidFill>
                  <a:srgbClr val="16796B"/>
                </a:solidFill>
                <a:latin typeface="Arial"/>
                <a:ea typeface="Arial"/>
                <a:cs typeface="Arial"/>
              </a:rPr>
              <a:t>Keep the original model result: score, prediction, cutoff and warnings</a:t>
            </a:r>
          </a:p>
        </p:txBody>
      </p:sp>
    </p:spTree>
    <p:extLst>
      <p:ext uri="{BB962C8B-B14F-4D97-AF65-F5344CB8AC3E}">
        <p14:creationId xmlns:p14="http://schemas.microsoft.com/office/powerpoint/2010/main" val="4543776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2026-09-29T13:18:51.8550000Z</dcterms:created>
  <dcterms:modified xsi:type="dcterms:W3CDTF">2026-09-29T13:18:51.8550000Z</dcterms:modified>
</coreProperties>
</file>