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0b7ded43a34136" /><Relationship Type="http://schemas.openxmlformats.org/officeDocument/2006/relationships/extended-properties" Target="/docProps/app.xml" Id="R92203002c3794ba8" /><Relationship Type="http://schemas.openxmlformats.org/officeDocument/2006/relationships/officeDocument" Target="/ppt/presentation.xml" Id="Rcf53a7d52a234fab" /></Relationships>
</file>

<file path=ppt/presentation.xml><?xml version="1.0" encoding="utf-8"?>
<p:presentation xmlns:p="http://schemas.openxmlformats.org/presentationml/2006/main">
  <p:sldMasterIdLst>
    <p:sldMasterId xmlns:r="http://schemas.openxmlformats.org/officeDocument/2006/relationships" id="2147483648" r:id="Rf21f33045974431e"/>
  </p:sldMasterIdLst>
  <p:notesMasterIdLst>
    <p:notesMasterId xmlns:r="http://schemas.openxmlformats.org/officeDocument/2006/relationships" r:id="R1f09b2fe80854459"/>
  </p:notesMasterIdLst>
  <p:sldIdLst>
    <p:sldId xmlns:r="http://schemas.openxmlformats.org/officeDocument/2006/relationships" id="256" r:id="R269e3dc731404851"/>
    <p:sldId xmlns:r="http://schemas.openxmlformats.org/officeDocument/2006/relationships" id="257" r:id="R65b1672c87054259"/>
    <p:sldId xmlns:r="http://schemas.openxmlformats.org/officeDocument/2006/relationships" id="258" r:id="R8a5edb45e4c94a79"/>
    <p:sldId xmlns:r="http://schemas.openxmlformats.org/officeDocument/2006/relationships" id="259" r:id="R1d0857b261594d98"/>
    <p:sldId xmlns:r="http://schemas.openxmlformats.org/officeDocument/2006/relationships" id="260" r:id="Rc7dcb8cfe83e43c4"/>
    <p:sldId xmlns:r="http://schemas.openxmlformats.org/officeDocument/2006/relationships" id="261" r:id="Rb9bccad7eccb404d"/>
    <p:sldId xmlns:r="http://schemas.openxmlformats.org/officeDocument/2006/relationships" id="262" r:id="R6a9b2020f0da4d07"/>
    <p:sldId xmlns:r="http://schemas.openxmlformats.org/officeDocument/2006/relationships" id="263" r:id="R834509c434df4bee"/>
    <p:sldId xmlns:r="http://schemas.openxmlformats.org/officeDocument/2006/relationships" id="264" r:id="R8b785b1385de4c68"/>
    <p:sldId xmlns:r="http://schemas.openxmlformats.org/officeDocument/2006/relationships" id="265" r:id="R8e144fb0511145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0e924808e8443c" /><Relationship Type="http://schemas.openxmlformats.org/officeDocument/2006/relationships/slideMaster" Target="/ppt/slideMasters/slideMaster1.xml" Id="Rf21f33045974431e" /><Relationship Type="http://schemas.openxmlformats.org/officeDocument/2006/relationships/notesMaster" Target="/ppt/notesMasters/notesMaster1.xml" Id="R1f09b2fe80854459" /><Relationship Type="http://schemas.openxmlformats.org/officeDocument/2006/relationships/presProps" Target="/ppt/presProps.xml" Id="Rb577ca7c494642a8" /><Relationship Type="http://schemas.openxmlformats.org/officeDocument/2006/relationships/tableStyles" Target="/ppt/tableStyles.xml" Id="R35d654a4627e4c44" /><Relationship Type="http://schemas.openxmlformats.org/officeDocument/2006/relationships/slide" Target="/ppt/slides/slide1.xml" Id="R269e3dc731404851" /><Relationship Type="http://schemas.openxmlformats.org/officeDocument/2006/relationships/slide" Target="/ppt/slides/slide2.xml" Id="R65b1672c87054259" /><Relationship Type="http://schemas.openxmlformats.org/officeDocument/2006/relationships/slide" Target="/ppt/slides/slide3.xml" Id="R8a5edb45e4c94a79" /><Relationship Type="http://schemas.openxmlformats.org/officeDocument/2006/relationships/slide" Target="/ppt/slides/slide4.xml" Id="R1d0857b261594d98" /><Relationship Type="http://schemas.openxmlformats.org/officeDocument/2006/relationships/slide" Target="/ppt/slides/slide5.xml" Id="Rc7dcb8cfe83e43c4" /><Relationship Type="http://schemas.openxmlformats.org/officeDocument/2006/relationships/slide" Target="/ppt/slides/slide6.xml" Id="Rb9bccad7eccb404d" /><Relationship Type="http://schemas.openxmlformats.org/officeDocument/2006/relationships/slide" Target="/ppt/slides/slide7.xml" Id="R6a9b2020f0da4d07" /><Relationship Type="http://schemas.openxmlformats.org/officeDocument/2006/relationships/slide" Target="/ppt/slides/slide8.xml" Id="R834509c434df4bee" /><Relationship Type="http://schemas.openxmlformats.org/officeDocument/2006/relationships/slide" Target="/ppt/slides/slide9.xml" Id="R8b785b1385de4c68" /><Relationship Type="http://schemas.openxmlformats.org/officeDocument/2006/relationships/slide" Target="/ppt/slides/slide10.xml" Id="R8e144fb0511145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dec05b173844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173f6cbc7994b63" /><Relationship Type="http://schemas.openxmlformats.org/officeDocument/2006/relationships/notesMaster" Target="/ppt/notesMasters/notesMaster1.xml" Id="R10b48551234f417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e2be76336e54210" /><Relationship Type="http://schemas.openxmlformats.org/officeDocument/2006/relationships/notesMaster" Target="/ppt/notesMasters/notesMaster1.xml" Id="Rf3405e7494494c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9ff1f070e8564eac" /><Relationship Type="http://schemas.openxmlformats.org/officeDocument/2006/relationships/notesMaster" Target="/ppt/notesMasters/notesMaster1.xml" Id="R24a14e704d9b47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cf099b0508f482a" /><Relationship Type="http://schemas.openxmlformats.org/officeDocument/2006/relationships/notesMaster" Target="/ppt/notesMasters/notesMaster1.xml" Id="R84fe1283b34749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97a4589af34132" /><Relationship Type="http://schemas.openxmlformats.org/officeDocument/2006/relationships/notesMaster" Target="/ppt/notesMasters/notesMaster1.xml" Id="R9a0324a611aa437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e8bd1e049e2423a" /><Relationship Type="http://schemas.openxmlformats.org/officeDocument/2006/relationships/notesMaster" Target="/ppt/notesMasters/notesMaster1.xml" Id="Ra368e9ce10e149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4268baff0e4b38" /><Relationship Type="http://schemas.openxmlformats.org/officeDocument/2006/relationships/notesMaster" Target="/ppt/notesMasters/notesMaster1.xml" Id="R32e232b7ddbf426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24847c259ac405d" /><Relationship Type="http://schemas.openxmlformats.org/officeDocument/2006/relationships/notesMaster" Target="/ppt/notesMasters/notesMaster1.xml" Id="Rc0e4beeb7b0847e3" /></Relationships>
</file>

<file path=ppt/notesSlides/_rels/notesSlide9.xml.rels>&#65279;<?xml version="1.0" encoding="utf-8"?><Relationships xmlns="http://schemas.openxmlformats.org/package/2006/relationships"><Relationship Type="http://schemas.openxmlformats.org/officeDocument/2006/relationships/slide" Target="/ppt/slides/slide9.xml" Id="Ra09da6a1770241b3" /><Relationship Type="http://schemas.openxmlformats.org/officeDocument/2006/relationships/notesMaster" Target="/ppt/notesMasters/notesMaster1.xml" Id="R050983a8bfea4df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3f33897322e4b3b" /><Relationship Type="http://schemas.openxmlformats.org/officeDocument/2006/relationships/notesMaster" Target="/ppt/notesMasters/notesMaster1.xml" Id="Rf64d1cbd3054480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notebook for the show-and-tell portions, then switch to the Kafka terminals. End with the proposed agent architecture. Suggested pacing: notebook 40 minutes, Kafka 12 minutes, agent design and discussion 8 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src/reference.ipynb. This is the full process. Data assertions check structure and known constraints before the split. Learn all statistical preprocessing from training rows only. Choose model and threshold using validation. Open the test set after freezing decisions. Source: src/reference.ipynb sections 3–11.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original CSV and AI4I+ preview in src/reference.ipynb sections 2–4. Counts were read from data/ai4i2020.csv and data/processed/ai4i_plus.csv. UCI AI4I 2020 is synthetic, and our augmentation is simulated. Source attribution from the notebook: UCI AI4I 2020, DOI 10.24432/C5HS5C, CC BY 4.0. No temporal forecasting target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feature-decision table in notebook section 5. Six numeric inputs and one categorical input are retained. Product type L/M/H is a product quality variant. The vibration signal is simulated. Excluded redundant/context/noise fields remain in the raw data for teaching. PCA is unnecessary for this small interpretable feature set. Sources: artifacts/machine_failure_metadata.json; src/reference.ipynb sections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notebook section 7. Moderate tabular dataset, nonlinear relationships, feature interactions and rare positive labels motivate the candidate set. Deep tree is diagnostic only. Class weights do not guarantee recall or calibrated probabilities. Sources: src/reference.ipynb section 7; src/reference.py model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splitting, inspect schema, required columns, valid target labels, numeric validity and duplicate policy. These are the teaching data-contract checks, not a claim that every listed check already exists as an assertion in the notebook. After splitting, assert disjoint row indexes and fit transformations on training rows only. Explore target relationships on training data. Actual split: 60/20/20 stratified, seed 42. Source: src/reference.ipynb sections 4–6,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src/reference.ipynb sections 6–10. Numeric median imputation, categorical most-frequent imputation, one-hot encoding. Fit candidates only on train. Compare on validation and inspect overfit gap. Select threshold by minimizing 10*FN + FP using hypothetical teaching costs. Saved threshold 0.13. Keep forest unchanged rather than refitting on train+validation, then evaluate held-out test. Source: artifacts/machine_failure_metadata.json and notebook.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test results: accuracy .931, precision .315789, recall .882353, F1 .465116, average precision .687856, ROC-AUC .973774. Confusion counts: TP 60, TN 1802, FP 130, FN 8. An always-normal prediction would score 96.6% accuracy but zero recall. AP is average precision, not trapezoidal PR-AUC. Values refer to current saved artifacts, not a rerun. Sources: artifacts/machine_failure_metadata.json;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terminals. Start the prepared Kafka broker and create machine.telemetry if needed, following local/STREAMING.md. Run from the current repository with the compatible Python environment. Commands on slide use script defaults; optional --bootstrap-servers 127.0.0.1:9092 avoids IPv6 retry. Producer replays the matching test rows, not new labeled synthetic evidence. Consumer calls predict_event and applies metadata threshold. Missing sensors are imputed and flagged; invalid values are skipped. Ground truth stays out of features. Sources: src/producer.py; src/consumer.py; local/STREAMING.md.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architecture, not an implemented capability in this repository. Assumption: the user supplies the current observation. The LLM receives the registered predict_machine_failure tool description and schema, decides to call it, and supplies structured arguments. The harness validates arguments and invokes deterministic inference code, reusing the consumer predict_event contract with the saved pipeline and metadata. The tool returns p_failure, prediction, threshold and notices; model version may be added by the harness. The LLM explains the result without inventing readings or changing the decision. The application attaches the original structured tool result directly so the raw output is not regenerated by the LLM. Invalid inputs or tool failures terminate with a clear error or request for clarification, with no invented prediction. DAG below represents one request, with separate LLM planning and explanation nodes rather than a loop. A later clarification starts a new request. Kafka is the preceding delivery demo and is not required for direct tool inference.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ef6718aa625465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66c1bcc7164e8a" /><Relationship Type="http://schemas.openxmlformats.org/officeDocument/2006/relationships/slideLayout" Target="/ppt/slideLayouts/slideLayout1.xml" Id="R6bb5871fc2c248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bb5871fc2c248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6d08ca1765c49ce" /><Relationship Type="http://schemas.openxmlformats.org/officeDocument/2006/relationships/notesSlide" Target="/ppt/notesSlides/notesSlide1.xml" Id="R07c382494d314f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f64ac5858f448f0" /><Relationship Type="http://schemas.openxmlformats.org/officeDocument/2006/relationships/notesSlide" Target="/ppt/notesSlides/notesSlide2.xml" Id="R47c131407a2c44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54b15ba67841b8" /><Relationship Type="http://schemas.openxmlformats.org/officeDocument/2006/relationships/notesSlide" Target="/ppt/notesSlides/notesSlide3.xml" Id="R0bc41370ce9b451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16e6c17cc70411a" /><Relationship Type="http://schemas.openxmlformats.org/officeDocument/2006/relationships/notesSlide" Target="/ppt/notesSlides/notesSlide4.xml" Id="Rd154946568ac41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bc95d25baaf4c53" /><Relationship Type="http://schemas.openxmlformats.org/officeDocument/2006/relationships/notesSlide" Target="/ppt/notesSlides/notesSlide5.xml" Id="R4f36032986654c1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841ee5d4764a88" /><Relationship Type="http://schemas.openxmlformats.org/officeDocument/2006/relationships/notesSlide" Target="/ppt/notesSlides/notesSlide6.xml" Id="R3f8e18e0853745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489889d0b943c9" /><Relationship Type="http://schemas.openxmlformats.org/officeDocument/2006/relationships/notesSlide" Target="/ppt/notesSlides/notesSlide7.xml" Id="R7cd482d60348406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da2bbd92cb64351" /><Relationship Type="http://schemas.openxmlformats.org/officeDocument/2006/relationships/notesSlide" Target="/ppt/notesSlides/notesSlide8.xml" Id="R6555b0e2c240498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a15195904d402f" /><Relationship Type="http://schemas.openxmlformats.org/officeDocument/2006/relationships/notesSlide" Target="/ppt/notesSlides/notesSlide9.xml" Id="R4aaf694d5e9c4b8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db831ef1aca4332" /><Relationship Type="http://schemas.openxmlformats.org/officeDocument/2006/relationships/notesSlide" Target="/ppt/notesSlides/notesSlide10.xml" Id="Rd2bae7eb5de54543" /></Relationships>
</file>

<file path=ppt/slides/slide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BAC71A9-899E-4B19-9178-3137A751C2CA}"/>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Agenda</a:t>
            </a:r>
          </a:p>
        </p:txBody>
      </p:sp>
      <p:sp>
        <p:nvSpPr>
          <p:cNvPr id="2" name="">
            <a:extLst xmlns:a="http://schemas.openxmlformats.org/drawingml/2006/main">
              <a:ext uri="{FF2B5EF4-FFF2-40B4-BE49-F238E27FC236}">
                <a16:creationId xmlns:a16="http://schemas.microsoft.com/office/drawing/2014/main" id="{AD9CE37D-1126-4EE8-80F6-35941B512F50}"/>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2C2973CF-FDC7-4C82-8A79-16A06E80D7D2}"/>
              </a:ext>
            </a:extLst>
          </p:cNvPr>
          <p:cNvSpPr>
            <a:spLocks xmlns:a="http://schemas.openxmlformats.org/drawingml/2006/main" noGrp="1"/>
          </p:cNvSpPr>
          <p:nvPr/>
        </p:nvSpPr>
        <p:spPr>
          <a:xfrm xmlns:a="http://schemas.openxmlformats.org/drawingml/2006/main">
            <a:off x="714375" y="1809750"/>
            <a:ext cx="106680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01   Data and feature decisions</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02   Algorithm choice and data checks</a:t>
            </a:r>
          </a:p>
          <a:p xmlns:a="http://schemas.openxmlformats.org/drawingml/2006/main">
            <a:pPr>
              <a:defRPr sz="2625" b="0">
                <a:solidFill>
                  <a:srgbClr val="132B36"/>
                </a:solidFill>
                <a:latin typeface="Arial"/>
                <a:ea typeface="Arial"/>
                <a:cs typeface="Arial"/>
              </a:defRPr>
            </a:pPr>
            <a:r>
              <a:rPr sz="2625" b="0">
                <a:solidFill>
                  <a:srgbClr val="132B36"/>
                </a:solidFill>
                <a:latin typeface="Arial"/>
                <a:ea typeface="Arial"/>
                <a:cs typeface="Arial"/>
              </a:rPr>
              <a:t>03   Training, validation and evaluation</a:t>
            </a:r>
          </a:p>
        </p:txBody>
      </p:sp>
      <p:sp>
        <p:nvSpPr>
          <p:cNvPr id="4" name="">
            <a:extLst xmlns:a="http://schemas.openxmlformats.org/drawingml/2006/main">
              <a:ext uri="{FF2B5EF4-FFF2-40B4-BE49-F238E27FC236}">
                <a16:creationId xmlns:a16="http://schemas.microsoft.com/office/drawing/2014/main" id="{2A0F43A6-327B-4724-85CB-6F9FE3A2672C}"/>
              </a:ext>
            </a:extLst>
          </p:cNvPr>
          <p:cNvSpPr>
            <a:spLocks xmlns:a="http://schemas.openxmlformats.org/drawingml/2006/main" noGrp="1"/>
          </p:cNvSpPr>
          <p:nvPr/>
        </p:nvSpPr>
        <p:spPr>
          <a:xfrm xmlns:a="http://schemas.openxmlformats.org/drawingml/2006/main">
            <a:off x="714375" y="4248150"/>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04   Live inference through Kafka</a:t>
            </a:r>
          </a:p>
          <a:p xmlns:a="http://schemas.openxmlformats.org/drawingml/2006/main">
            <a:pPr>
              <a:defRPr sz="2625" b="0">
                <a:solidFill>
                  <a:srgbClr val="16796B"/>
                </a:solidFill>
                <a:latin typeface="Arial"/>
                <a:ea typeface="Arial"/>
                <a:cs typeface="Arial"/>
              </a:defRPr>
            </a:pPr>
            <a:r>
              <a:rPr sz="2625" b="0">
                <a:solidFill>
                  <a:srgbClr val="16796B"/>
                </a:solidFill>
                <a:latin typeface="Arial"/>
                <a:ea typeface="Arial"/>
                <a:cs typeface="Arial"/>
              </a:rPr>
              <a:t>05   An LLM application that calls the model</a:t>
            </a:r>
          </a:p>
        </p:txBody>
      </p:sp>
    </p:spTree>
    <p:extLst>
      <p:ext uri="{BB962C8B-B14F-4D97-AF65-F5344CB8AC3E}">
        <p14:creationId xmlns:p14="http://schemas.microsoft.com/office/powerpoint/2010/main" val="542604579"/>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A6D5240A-7DF8-45E9-B90A-C84ED3CBEEDC}"/>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ML training flow / pipeline</a:t>
            </a:r>
          </a:p>
        </p:txBody>
      </p:sp>
      <p:sp>
        <p:nvSpPr>
          <p:cNvPr id="2" name="">
            <a:extLst xmlns:a="http://schemas.openxmlformats.org/drawingml/2006/main">
              <a:ext uri="{FF2B5EF4-FFF2-40B4-BE49-F238E27FC236}">
                <a16:creationId xmlns:a16="http://schemas.microsoft.com/office/drawing/2014/main" id="{0DEFBDBB-F0EF-4605-80DD-43B2765609A8}"/>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984ED2D-E757-4FC6-9653-38C3A1B4A4D1}"/>
              </a:ext>
            </a:extLst>
          </p:cNvPr>
          <p:cNvSpPr>
            <a:spLocks xmlns:a="http://schemas.openxmlformats.org/drawingml/2006/main" noGrp="1"/>
          </p:cNvSpPr>
          <p:nvPr/>
        </p:nvSpPr>
        <p:spPr>
          <a:xfrm xmlns:a="http://schemas.openxmlformats.org/drawingml/2006/main">
            <a:off x="66675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Raw AI4I+ data</a:t>
            </a:r>
          </a:p>
        </p:txBody>
      </p:sp>
      <p:sp>
        <p:nvSpPr>
          <p:cNvPr id="4" name="">
            <a:extLst xmlns:a="http://schemas.openxmlformats.org/drawingml/2006/main">
              <a:ext uri="{FF2B5EF4-FFF2-40B4-BE49-F238E27FC236}">
                <a16:creationId xmlns:a16="http://schemas.microsoft.com/office/drawing/2014/main" id="{5C5DB4E2-0992-4729-B739-11CCD8E5E6F7}"/>
              </a:ext>
            </a:extLst>
          </p:cNvPr>
          <p:cNvSpPr>
            <a:spLocks xmlns:a="http://schemas.openxmlformats.org/drawingml/2006/main" noGrp="1"/>
          </p:cNvSpPr>
          <p:nvPr/>
        </p:nvSpPr>
        <p:spPr>
          <a:xfrm xmlns:a="http://schemas.openxmlformats.org/drawingml/2006/main">
            <a:off x="3667125"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Checks + split</a:t>
            </a:r>
          </a:p>
        </p:txBody>
      </p:sp>
      <p:sp>
        <p:nvSpPr>
          <p:cNvPr id="5" name="">
            <a:extLst xmlns:a="http://schemas.openxmlformats.org/drawingml/2006/main">
              <a:ext uri="{FF2B5EF4-FFF2-40B4-BE49-F238E27FC236}">
                <a16:creationId xmlns:a16="http://schemas.microsoft.com/office/drawing/2014/main" id="{0E9C0C28-F2DC-4006-A3EF-13847CC23391}"/>
              </a:ext>
            </a:extLst>
          </p:cNvPr>
          <p:cNvSpPr>
            <a:spLocks xmlns:a="http://schemas.openxmlformats.org/drawingml/2006/main" noGrp="1"/>
          </p:cNvSpPr>
          <p:nvPr/>
        </p:nvSpPr>
        <p:spPr>
          <a:xfrm xmlns:a="http://schemas.openxmlformats.org/drawingml/2006/main">
            <a:off x="6667500" y="180975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Fit preprocessing</a:t>
            </a:r>
          </a:p>
        </p:txBody>
      </p:sp>
      <p:cxnSp>
        <p:nvCxnSpPr>
          <p:cNvPr id="22" name=""/>
          <p:cNvCxnSpPr>
            <a:stCxn xmlns:a="http://schemas.openxmlformats.org/drawingml/2006/main" id="3" idx="3"/>
            <a:endCxn xmlns:a="http://schemas.openxmlformats.org/drawingml/2006/main" id="4" idx="1"/>
          </p:cNvCxnSpPr>
          <p:nvPr/>
        </p:nvCxnSpPr>
        <p:spPr>
          <a:xfrm xmlns:a="http://schemas.openxmlformats.org/drawingml/2006/main">
            <a:off x="2952750" y="2162175"/>
            <a:ext cx="714375" cy="0"/>
          </a:xfrm>
          <a:prstGeom xmlns:a="http://schemas.openxmlformats.org/drawingml/2006/main" prst="straightConnector1">
            <a:avLst/>
          </a:prstGeom>
          <a:ln xmlns:a="http://schemas.openxmlformats.org/drawingml/2006/main" w="19050">
            <a:solidFill>
              <a:srgbClr val="16796B"/>
            </a:solidFill>
            <a:headEnd type="triangle" w="med" len="med"/>
          </a:ln>
        </p:spPr>
      </p:cxnSp>
      <p:cxnSp>
        <p:nvCxnSpPr>
          <p:cNvPr id="23" name=""/>
          <p:cNvCxnSpPr>
            <a:stCxn xmlns:a="http://schemas.openxmlformats.org/drawingml/2006/main" id="4" idx="3"/>
            <a:endCxn xmlns:a="http://schemas.openxmlformats.org/drawingml/2006/main" id="5" idx="1"/>
          </p:cNvCxnSpPr>
          <p:nvPr/>
        </p:nvCxnSpPr>
        <p:spPr>
          <a:xfrm xmlns:a="http://schemas.openxmlformats.org/drawingml/2006/main">
            <a:off x="5953125" y="2162175"/>
            <a:ext cx="714375" cy="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8" name="">
            <a:extLst xmlns:a="http://schemas.openxmlformats.org/drawingml/2006/main">
              <a:ext uri="{FF2B5EF4-FFF2-40B4-BE49-F238E27FC236}">
                <a16:creationId xmlns:a16="http://schemas.microsoft.com/office/drawing/2014/main" id="{8AF8A709-4D4C-4E49-AE77-95282F8FBFD1}"/>
              </a:ext>
            </a:extLst>
          </p:cNvPr>
          <p:cNvSpPr>
            <a:spLocks xmlns:a="http://schemas.openxmlformats.org/drawingml/2006/main" noGrp="1"/>
          </p:cNvSpPr>
          <p:nvPr/>
        </p:nvSpPr>
        <p:spPr>
          <a:xfrm xmlns:a="http://schemas.openxmlformats.org/drawingml/2006/main">
            <a:off x="666750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candidates</a:t>
            </a:r>
          </a:p>
        </p:txBody>
      </p:sp>
      <p:sp>
        <p:nvSpPr>
          <p:cNvPr id="9" name="">
            <a:extLst xmlns:a="http://schemas.openxmlformats.org/drawingml/2006/main">
              <a:ext uri="{FF2B5EF4-FFF2-40B4-BE49-F238E27FC236}">
                <a16:creationId xmlns:a16="http://schemas.microsoft.com/office/drawing/2014/main" id="{9EBBADA0-BD21-43AF-9518-C53E7C44CE87}"/>
              </a:ext>
            </a:extLst>
          </p:cNvPr>
          <p:cNvSpPr>
            <a:spLocks xmlns:a="http://schemas.openxmlformats.org/drawingml/2006/main" noGrp="1"/>
          </p:cNvSpPr>
          <p:nvPr/>
        </p:nvSpPr>
        <p:spPr>
          <a:xfrm xmlns:a="http://schemas.openxmlformats.org/drawingml/2006/main">
            <a:off x="3667125"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Validate + threshold</a:t>
            </a:r>
          </a:p>
        </p:txBody>
      </p:sp>
      <p:sp>
        <p:nvSpPr>
          <p:cNvPr id="10" name="">
            <a:extLst xmlns:a="http://schemas.openxmlformats.org/drawingml/2006/main">
              <a:ext uri="{FF2B5EF4-FFF2-40B4-BE49-F238E27FC236}">
                <a16:creationId xmlns:a16="http://schemas.microsoft.com/office/drawing/2014/main" id="{16B002BB-3598-45D9-9FD9-3161177AC784}"/>
              </a:ext>
            </a:extLst>
          </p:cNvPr>
          <p:cNvSpPr>
            <a:spLocks xmlns:a="http://schemas.openxmlformats.org/drawingml/2006/main" noGrp="1"/>
          </p:cNvSpPr>
          <p:nvPr/>
        </p:nvSpPr>
        <p:spPr>
          <a:xfrm xmlns:a="http://schemas.openxmlformats.org/drawingml/2006/main">
            <a:off x="666750" y="3238500"/>
            <a:ext cx="2286000"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Final test</a:t>
            </a:r>
          </a:p>
        </p:txBody>
      </p:sp>
      <p:cxnSp>
        <p:nvCxnSpPr>
          <p:cNvPr id="27" name=""/>
          <p:cNvCxnSpPr>
            <a:stCxn xmlns:a="http://schemas.openxmlformats.org/drawingml/2006/main" id="5" idx="2"/>
            <a:endCxn xmlns:a="http://schemas.openxmlformats.org/drawingml/2006/main" id="8" idx="0"/>
          </p:cNvCxnSpPr>
          <p:nvPr/>
        </p:nvCxnSpPr>
        <p:spPr>
          <a:xfrm xmlns:a="http://schemas.openxmlformats.org/drawingml/2006/main">
            <a:off x="7810500" y="2514600"/>
            <a:ext cx="0" cy="723900"/>
          </a:xfrm>
          <a:prstGeom xmlns:a="http://schemas.openxmlformats.org/drawingml/2006/main" prst="straightConnector1">
            <a:avLst/>
          </a:prstGeom>
          <a:ln xmlns:a="http://schemas.openxmlformats.org/drawingml/2006/main" w="19050">
            <a:solidFill>
              <a:srgbClr val="16796B"/>
            </a:solidFill>
            <a:headEnd type="triangle" w="med" len="med"/>
          </a:ln>
        </p:spPr>
      </p:cxnSp>
      <p:cxnSp>
        <p:nvCxnSpPr>
          <p:cNvPr id="28" name=""/>
          <p:cNvCxnSpPr>
            <a:stCxn xmlns:a="http://schemas.openxmlformats.org/drawingml/2006/main" id="8" idx="1"/>
            <a:endCxn xmlns:a="http://schemas.openxmlformats.org/drawingml/2006/main" id="9" idx="3"/>
          </p:cNvCxnSpPr>
          <p:nvPr/>
        </p:nvCxnSpPr>
        <p:spPr>
          <a:xfrm xmlns:a="http://schemas.openxmlformats.org/drawingml/2006/main" flipH="1">
            <a:off x="5953125" y="3590925"/>
            <a:ext cx="714375" cy="0"/>
          </a:xfrm>
          <a:prstGeom xmlns:a="http://schemas.openxmlformats.org/drawingml/2006/main" prst="straightConnector1">
            <a:avLst/>
          </a:prstGeom>
          <a:ln xmlns:a="http://schemas.openxmlformats.org/drawingml/2006/main" w="19050">
            <a:solidFill>
              <a:srgbClr val="16796B"/>
            </a:solidFill>
            <a:headEnd type="triangle" w="med" len="med"/>
          </a:ln>
        </p:spPr>
      </p:cxnSp>
      <p:cxnSp>
        <p:nvCxnSpPr>
          <p:cNvPr id="29" name=""/>
          <p:cNvCxnSpPr>
            <a:stCxn xmlns:a="http://schemas.openxmlformats.org/drawingml/2006/main" id="9" idx="1"/>
            <a:endCxn xmlns:a="http://schemas.openxmlformats.org/drawingml/2006/main" id="10" idx="3"/>
          </p:cNvCxnSpPr>
          <p:nvPr/>
        </p:nvCxnSpPr>
        <p:spPr>
          <a:xfrm xmlns:a="http://schemas.openxmlformats.org/drawingml/2006/main" flipH="1">
            <a:off x="2952750" y="3590925"/>
            <a:ext cx="714375" cy="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14" name="">
            <a:extLst xmlns:a="http://schemas.openxmlformats.org/drawingml/2006/main">
              <a:ext uri="{FF2B5EF4-FFF2-40B4-BE49-F238E27FC236}">
                <a16:creationId xmlns:a16="http://schemas.microsoft.com/office/drawing/2014/main" id="{982CA094-81B8-4CD6-BF12-FF2C9D6997CC}"/>
              </a:ext>
            </a:extLst>
          </p:cNvPr>
          <p:cNvSpPr>
            <a:spLocks xmlns:a="http://schemas.openxmlformats.org/drawingml/2006/main" noGrp="1"/>
          </p:cNvSpPr>
          <p:nvPr/>
        </p:nvSpPr>
        <p:spPr>
          <a:xfrm xmlns:a="http://schemas.openxmlformats.org/drawingml/2006/main">
            <a:off x="666750" y="4667250"/>
            <a:ext cx="5286375" cy="70485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Export pipeline + metadata</a:t>
            </a:r>
          </a:p>
        </p:txBody>
      </p:sp>
      <p:cxnSp>
        <p:nvCxnSpPr>
          <p:cNvPr id="31" name=""/>
          <p:cNvCxnSpPr>
            <a:stCxn xmlns:a="http://schemas.openxmlformats.org/drawingml/2006/main" id="10" idx="2"/>
            <a:endCxn xmlns:a="http://schemas.openxmlformats.org/drawingml/2006/main" id="14" idx="0"/>
          </p:cNvCxnSpPr>
          <p:nvPr/>
        </p:nvCxnSpPr>
        <p:spPr>
          <a:xfrm xmlns:a="http://schemas.openxmlformats.org/drawingml/2006/main">
            <a:off x="1809750" y="3943350"/>
            <a:ext cx="1500188" cy="72390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16" name="">
            <a:extLst xmlns:a="http://schemas.openxmlformats.org/drawingml/2006/main">
              <a:ext uri="{FF2B5EF4-FFF2-40B4-BE49-F238E27FC236}">
                <a16:creationId xmlns:a16="http://schemas.microsoft.com/office/drawing/2014/main" id="{D27186B5-B682-420B-82A7-C9D81298E6E2}"/>
              </a:ext>
            </a:extLst>
          </p:cNvPr>
          <p:cNvSpPr>
            <a:spLocks xmlns:a="http://schemas.openxmlformats.org/drawingml/2006/main" noGrp="1"/>
          </p:cNvSpPr>
          <p:nvPr/>
        </p:nvSpPr>
        <p:spPr>
          <a:xfrm xmlns:a="http://schemas.openxmlformats.org/drawingml/2006/main">
            <a:off x="6667500" y="467677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Same fitted preprocessing</a:t>
            </a:r>
          </a:p>
          <a:p xmlns:a="http://schemas.openxmlformats.org/drawingml/2006/main">
            <a:pPr>
              <a:defRPr sz="2175" b="0">
                <a:solidFill>
                  <a:srgbClr val="16796B"/>
                </a:solidFill>
                <a:latin typeface="Arial"/>
                <a:ea typeface="Arial"/>
                <a:cs typeface="Arial"/>
              </a:defRPr>
            </a:pPr>
            <a:r>
              <a:rPr sz="2175" b="0">
                <a:solidFill>
                  <a:srgbClr val="16796B"/>
                </a:solidFill>
                <a:latin typeface="Arial"/>
                <a:ea typeface="Arial"/>
                <a:cs typeface="Arial"/>
              </a:rPr>
              <a:t>at training and inference</a:t>
            </a:r>
          </a:p>
        </p:txBody>
      </p:sp>
    </p:spTree>
    <p:extLst>
      <p:ext uri="{BB962C8B-B14F-4D97-AF65-F5344CB8AC3E}">
        <p14:creationId xmlns:p14="http://schemas.microsoft.com/office/powerpoint/2010/main" val="1913785500"/>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F859F92-C0EA-43F0-9E69-FC9E09E4FDC7}"/>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Dataset</a:t>
            </a:r>
          </a:p>
        </p:txBody>
      </p:sp>
      <p:sp>
        <p:nvSpPr>
          <p:cNvPr id="2" name="">
            <a:extLst xmlns:a="http://schemas.openxmlformats.org/drawingml/2006/main">
              <a:ext uri="{FF2B5EF4-FFF2-40B4-BE49-F238E27FC236}">
                <a16:creationId xmlns:a16="http://schemas.microsoft.com/office/drawing/2014/main" id="{91C61B88-4507-4E56-A64C-E7708F445548}"/>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882BA03E-D82D-4264-9287-302C14497480}"/>
              </a:ext>
            </a:extLst>
          </p:cNvPr>
          <p:cNvSpPr>
            <a:spLocks xmlns:a="http://schemas.openxmlformats.org/drawingml/2006/main" noGrp="1"/>
          </p:cNvSpPr>
          <p:nvPr/>
        </p:nvSpPr>
        <p:spPr>
          <a:xfrm xmlns:a="http://schemas.openxmlformats.org/drawingml/2006/main">
            <a:off x="685800" y="176212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796B"/>
                </a:solidFill>
                <a:latin typeface="Arial"/>
                <a:ea typeface="Arial"/>
                <a:cs typeface="Arial"/>
              </a:defRPr>
            </a:pPr>
            <a:r>
              <a:rPr sz="4050" b="1">
                <a:solidFill>
                  <a:srgbClr val="16796B"/>
                </a:solidFill>
                <a:latin typeface="Arial"/>
                <a:ea typeface="Arial"/>
                <a:cs typeface="Arial"/>
              </a:rPr>
              <a:t>10,000 observations</a:t>
            </a:r>
          </a:p>
        </p:txBody>
      </p:sp>
      <p:sp>
        <p:nvSpPr>
          <p:cNvPr id="4" name="">
            <a:extLst xmlns:a="http://schemas.openxmlformats.org/drawingml/2006/main">
              <a:ext uri="{FF2B5EF4-FFF2-40B4-BE49-F238E27FC236}">
                <a16:creationId xmlns:a16="http://schemas.microsoft.com/office/drawing/2014/main" id="{04BC29EC-0472-4948-A5D4-A49476392C5D}"/>
              </a:ext>
            </a:extLst>
          </p:cNvPr>
          <p:cNvSpPr>
            <a:spLocks xmlns:a="http://schemas.openxmlformats.org/drawingml/2006/main" noGrp="1"/>
          </p:cNvSpPr>
          <p:nvPr/>
        </p:nvSpPr>
        <p:spPr>
          <a:xfrm xmlns:a="http://schemas.openxmlformats.org/drawingml/2006/main">
            <a:off x="685800" y="2752725"/>
            <a:ext cx="1066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339 failure rows (3.39%)</a:t>
            </a:r>
          </a:p>
          <a:p xmlns:a="http://schemas.openxmlformats.org/drawingml/2006/main">
            <a:pPr>
              <a:defRPr sz="2550" b="0">
                <a:solidFill>
                  <a:srgbClr val="132B36"/>
                </a:solidFill>
                <a:latin typeface="Arial"/>
                <a:ea typeface="Arial"/>
                <a:cs typeface="Arial"/>
              </a:defRPr>
            </a:pPr>
            <a:r>
              <a:rPr sz="2550" b="0">
                <a:solidFill>
                  <a:srgbClr val="132B36"/>
                </a:solidFill>
                <a:latin typeface="Arial"/>
                <a:ea typeface="Arial"/>
                <a:cs typeface="Arial"/>
              </a:rPr>
              <a:t>One row describes an operating state and its outcome</a:t>
            </a:r>
          </a:p>
        </p:txBody>
      </p:sp>
      <p:sp>
        <p:nvSpPr>
          <p:cNvPr id="5" name="">
            <a:extLst xmlns:a="http://schemas.openxmlformats.org/drawingml/2006/main">
              <a:ext uri="{FF2B5EF4-FFF2-40B4-BE49-F238E27FC236}">
                <a16:creationId xmlns:a16="http://schemas.microsoft.com/office/drawing/2014/main" id="{E36401B3-C090-4BFD-9EB7-06D99A64322F}"/>
              </a:ext>
            </a:extLst>
          </p:cNvPr>
          <p:cNvSpPr>
            <a:spLocks xmlns:a="http://schemas.openxmlformats.org/drawingml/2006/main" noGrp="1"/>
          </p:cNvSpPr>
          <p:nvPr/>
        </p:nvSpPr>
        <p:spPr>
          <a:xfrm xmlns:a="http://schemas.openxmlformats.org/drawingml/2006/main">
            <a:off x="685800" y="440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AI4I: 14 columns     AI4I+: 29 columns</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The extension adds simulated signals, missingness and leakage examples</a:t>
            </a:r>
          </a:p>
        </p:txBody>
      </p:sp>
      <p:sp>
        <p:nvSpPr>
          <p:cNvPr id="6" name="">
            <a:extLst xmlns:a="http://schemas.openxmlformats.org/drawingml/2006/main">
              <a:ext uri="{FF2B5EF4-FFF2-40B4-BE49-F238E27FC236}">
                <a16:creationId xmlns:a16="http://schemas.microsoft.com/office/drawing/2014/main" id="{D2AA4EAE-4904-4C00-819A-D5E4365874D6}"/>
              </a:ext>
            </a:extLst>
          </p:cNvPr>
          <p:cNvSpPr>
            <a:spLocks xmlns:a="http://schemas.openxmlformats.org/drawingml/2006/main" noGrp="1"/>
          </p:cNvSpPr>
          <p:nvPr/>
        </p:nvSpPr>
        <p:spPr>
          <a:xfrm xmlns:a="http://schemas.openxmlformats.org/drawingml/2006/main">
            <a:off x="685800" y="586740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796B"/>
                </a:solidFill>
                <a:latin typeface="Arial"/>
                <a:ea typeface="Arial"/>
                <a:cs typeface="Arial"/>
              </a:defRPr>
            </a:pPr>
            <a:r>
              <a:rPr sz="1875" b="1">
                <a:solidFill>
                  <a:srgbClr val="16796B"/>
                </a:solidFill>
                <a:latin typeface="Arial"/>
                <a:ea typeface="Arial"/>
                <a:cs typeface="Arial"/>
              </a:rPr>
              <a:t>Target: current machine failure condition</a:t>
            </a:r>
          </a:p>
        </p:txBody>
      </p:sp>
    </p:spTree>
    <p:extLst>
      <p:ext uri="{BB962C8B-B14F-4D97-AF65-F5344CB8AC3E}">
        <p14:creationId xmlns:p14="http://schemas.microsoft.com/office/powerpoint/2010/main" val="1239314998"/>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373F5A7-3C66-46A3-8E66-B556BA88F594}"/>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Features of the dataset</a:t>
            </a:r>
          </a:p>
        </p:txBody>
      </p:sp>
      <p:sp>
        <p:nvSpPr>
          <p:cNvPr id="2" name="">
            <a:extLst xmlns:a="http://schemas.openxmlformats.org/drawingml/2006/main">
              <a:ext uri="{FF2B5EF4-FFF2-40B4-BE49-F238E27FC236}">
                <a16:creationId xmlns:a16="http://schemas.microsoft.com/office/drawing/2014/main" id="{56BA320A-3B51-4BED-8854-D9939770AC42}"/>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FC60F394-9CCD-4E28-A85F-0212BF87F03F}"/>
              </a:ext>
            </a:extLst>
          </p:cNvPr>
          <p:cNvSpPr>
            <a:spLocks xmlns:a="http://schemas.openxmlformats.org/drawingml/2006/main" noGrp="1"/>
          </p:cNvSpPr>
          <p:nvPr/>
        </p:nvSpPr>
        <p:spPr>
          <a:xfrm xmlns:a="http://schemas.openxmlformats.org/drawingml/2006/main">
            <a:off x="68580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Model inputs</a:t>
            </a:r>
          </a:p>
        </p:txBody>
      </p:sp>
      <p:sp>
        <p:nvSpPr>
          <p:cNvPr id="4" name="">
            <a:extLst xmlns:a="http://schemas.openxmlformats.org/drawingml/2006/main">
              <a:ext uri="{FF2B5EF4-FFF2-40B4-BE49-F238E27FC236}">
                <a16:creationId xmlns:a16="http://schemas.microsoft.com/office/drawing/2014/main" id="{7E4732D1-2E98-4B64-B1E1-7D33FEEB3A29}"/>
              </a:ext>
            </a:extLst>
          </p:cNvPr>
          <p:cNvSpPr>
            <a:spLocks xmlns:a="http://schemas.openxmlformats.org/drawingml/2006/main" noGrp="1"/>
          </p:cNvSpPr>
          <p:nvPr/>
        </p:nvSpPr>
        <p:spPr>
          <a:xfrm xmlns:a="http://schemas.openxmlformats.org/drawingml/2006/main">
            <a:off x="685800" y="2295525"/>
            <a:ext cx="5334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Air and process temperature (K)</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Rotational speed (RPM)</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Torque (Nm), tool wear (min)</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Simulated vibration RMS</a:t>
            </a:r>
          </a:p>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Product type (L / M / H)</a:t>
            </a:r>
          </a:p>
        </p:txBody>
      </p:sp>
      <p:sp>
        <p:nvSpPr>
          <p:cNvPr id="5" name="">
            <a:extLst xmlns:a="http://schemas.openxmlformats.org/drawingml/2006/main">
              <a:ext uri="{FF2B5EF4-FFF2-40B4-BE49-F238E27FC236}">
                <a16:creationId xmlns:a16="http://schemas.microsoft.com/office/drawing/2014/main" id="{1193A0B9-ECD7-4F1F-A667-40BCC2A7E8D8}"/>
              </a:ext>
            </a:extLst>
          </p:cNvPr>
          <p:cNvSpPr>
            <a:spLocks xmlns:a="http://schemas.openxmlformats.org/drawingml/2006/main" noGrp="1"/>
          </p:cNvSpPr>
          <p:nvPr/>
        </p:nvSpPr>
        <p:spPr>
          <a:xfrm xmlns:a="http://schemas.openxmlformats.org/drawingml/2006/main">
            <a:off x="6572250" y="16859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6796B"/>
                </a:solidFill>
                <a:latin typeface="Arial"/>
                <a:ea typeface="Arial"/>
                <a:cs typeface="Arial"/>
              </a:defRPr>
            </a:pPr>
            <a:r>
              <a:rPr sz="2400" b="1">
                <a:solidFill>
                  <a:srgbClr val="16796B"/>
                </a:solidFill>
                <a:latin typeface="Arial"/>
                <a:ea typeface="Arial"/>
                <a:cs typeface="Arial"/>
              </a:rPr>
              <a:t>Excluded inputs</a:t>
            </a:r>
          </a:p>
        </p:txBody>
      </p:sp>
      <p:sp>
        <p:nvSpPr>
          <p:cNvPr id="6" name="">
            <a:extLst xmlns:a="http://schemas.openxmlformats.org/drawingml/2006/main">
              <a:ext uri="{FF2B5EF4-FFF2-40B4-BE49-F238E27FC236}">
                <a16:creationId xmlns:a16="http://schemas.microsoft.com/office/drawing/2014/main" id="{DF5B9844-9B79-42ED-A039-9B99C640870A}"/>
              </a:ext>
            </a:extLst>
          </p:cNvPr>
          <p:cNvSpPr>
            <a:spLocks xmlns:a="http://schemas.openxmlformats.org/drawingml/2006/main" noGrp="1"/>
          </p:cNvSpPr>
          <p:nvPr/>
        </p:nvSpPr>
        <p:spPr>
          <a:xfrm xmlns:a="http://schemas.openxmlformats.org/drawingml/2006/main">
            <a:off x="6572250" y="2295525"/>
            <a:ext cx="485775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Machine failure target</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Failure-mode indicators</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Post-failure alarm and failure code</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Emergency stop</a:t>
            </a:r>
          </a:p>
          <a:p xmlns:a="http://schemas.openxmlformats.org/drawingml/2006/main">
            <a:pPr>
              <a:defRPr sz="2100" b="0">
                <a:solidFill>
                  <a:srgbClr val="132B36"/>
                </a:solidFill>
                <a:latin typeface="Arial"/>
                <a:ea typeface="Arial"/>
                <a:cs typeface="Arial"/>
              </a:defRPr>
            </a:pPr>
            <a:r>
              <a:rPr sz="2100" b="0">
                <a:solidFill>
                  <a:srgbClr val="132B36"/>
                </a:solidFill>
                <a:latin typeface="Arial"/>
                <a:ea typeface="Arial"/>
                <a:cs typeface="Arial"/>
              </a:rPr>
              <a:t>IDs and unused context / noise</a:t>
            </a:r>
          </a:p>
        </p:txBody>
      </p:sp>
      <p:sp>
        <p:nvSpPr>
          <p:cNvPr id="7" name="">
            <a:extLst xmlns:a="http://schemas.openxmlformats.org/drawingml/2006/main">
              <a:ext uri="{FF2B5EF4-FFF2-40B4-BE49-F238E27FC236}">
                <a16:creationId xmlns:a16="http://schemas.microsoft.com/office/drawing/2014/main" id="{6AE1E3D5-08B3-404F-AD05-22176463CA64}"/>
              </a:ext>
            </a:extLst>
          </p:cNvPr>
          <p:cNvSpPr>
            <a:spLocks xmlns:a="http://schemas.openxmlformats.org/drawingml/2006/main" noGrp="1"/>
          </p:cNvSpPr>
          <p:nvPr/>
        </p:nvSpPr>
        <p:spPr>
          <a:xfrm xmlns:a="http://schemas.openxmlformats.org/drawingml/2006/main">
            <a:off x="685800" y="57340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32B36"/>
                </a:solidFill>
                <a:latin typeface="Arial"/>
                <a:ea typeface="Arial"/>
                <a:cs typeface="Arial"/>
              </a:defRPr>
            </a:pPr>
            <a:r>
              <a:rPr sz="2025" b="1">
                <a:solidFill>
                  <a:srgbClr val="132B36"/>
                </a:solidFill>
                <a:latin typeface="Arial"/>
                <a:ea typeface="Arial"/>
                <a:cs typeface="Arial"/>
              </a:rPr>
              <a:t>Key question: would this value exist when we make the prediction?</a:t>
            </a:r>
          </a:p>
        </p:txBody>
      </p:sp>
    </p:spTree>
    <p:extLst>
      <p:ext uri="{BB962C8B-B14F-4D97-AF65-F5344CB8AC3E}">
        <p14:creationId xmlns:p14="http://schemas.microsoft.com/office/powerpoint/2010/main" val="1078833142"/>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75F0C9B-A4DE-4AC2-ACFA-98F966795833}"/>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Algorithm selection</a:t>
            </a:r>
          </a:p>
        </p:txBody>
      </p:sp>
      <p:sp>
        <p:nvSpPr>
          <p:cNvPr id="2" name="">
            <a:extLst xmlns:a="http://schemas.openxmlformats.org/drawingml/2006/main">
              <a:ext uri="{FF2B5EF4-FFF2-40B4-BE49-F238E27FC236}">
                <a16:creationId xmlns:a16="http://schemas.microsoft.com/office/drawing/2014/main" id="{99B4C60C-8105-460B-A530-75204C594FFF}"/>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6F825A0-4B4B-4ABB-9952-214CFDA83010}"/>
              </a:ext>
            </a:extLst>
          </p:cNvPr>
          <p:cNvSpPr>
            <a:spLocks xmlns:a="http://schemas.openxmlformats.org/drawingml/2006/main" noGrp="1"/>
          </p:cNvSpPr>
          <p:nvPr/>
        </p:nvSpPr>
        <p:spPr>
          <a:xfrm xmlns:a="http://schemas.openxmlformats.org/drawingml/2006/main">
            <a:off x="685800" y="178117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Dummy classifier</a:t>
            </a:r>
          </a:p>
        </p:txBody>
      </p:sp>
      <p:sp>
        <p:nvSpPr>
          <p:cNvPr id="4" name="">
            <a:extLst xmlns:a="http://schemas.openxmlformats.org/drawingml/2006/main">
              <a:ext uri="{FF2B5EF4-FFF2-40B4-BE49-F238E27FC236}">
                <a16:creationId xmlns:a16="http://schemas.microsoft.com/office/drawing/2014/main" id="{B357D61B-FA5B-4E5C-97C0-E25BD00FE7E9}"/>
              </a:ext>
            </a:extLst>
          </p:cNvPr>
          <p:cNvSpPr>
            <a:spLocks xmlns:a="http://schemas.openxmlformats.org/drawingml/2006/main" noGrp="1"/>
          </p:cNvSpPr>
          <p:nvPr/>
        </p:nvSpPr>
        <p:spPr>
          <a:xfrm xmlns:a="http://schemas.openxmlformats.org/drawingml/2006/main">
            <a:off x="4333875" y="1781175"/>
            <a:ext cx="704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Baseline: what happens when we ignore sensors?</a:t>
            </a:r>
          </a:p>
        </p:txBody>
      </p:sp>
      <p:sp>
        <p:nvSpPr>
          <p:cNvPr id="5" name="">
            <a:extLst xmlns:a="http://schemas.openxmlformats.org/drawingml/2006/main">
              <a:ext uri="{FF2B5EF4-FFF2-40B4-BE49-F238E27FC236}">
                <a16:creationId xmlns:a16="http://schemas.microsoft.com/office/drawing/2014/main" id="{99347F30-6CD9-4EEE-93C7-D1E038064508}"/>
              </a:ext>
            </a:extLst>
          </p:cNvPr>
          <p:cNvSpPr>
            <a:spLocks xmlns:a="http://schemas.openxmlformats.org/drawingml/2006/main" noGrp="1"/>
          </p:cNvSpPr>
          <p:nvPr/>
        </p:nvSpPr>
        <p:spPr>
          <a:xfrm xmlns:a="http://schemas.openxmlformats.org/drawingml/2006/main">
            <a:off x="685800" y="3000375"/>
            <a:ext cx="3476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Small decision tree</a:t>
            </a:r>
          </a:p>
        </p:txBody>
      </p:sp>
      <p:sp>
        <p:nvSpPr>
          <p:cNvPr id="6" name="">
            <a:extLst xmlns:a="http://schemas.openxmlformats.org/drawingml/2006/main">
              <a:ext uri="{FF2B5EF4-FFF2-40B4-BE49-F238E27FC236}">
                <a16:creationId xmlns:a16="http://schemas.microsoft.com/office/drawing/2014/main" id="{016C4339-1931-453F-8D6B-F528B1D6C087}"/>
              </a:ext>
            </a:extLst>
          </p:cNvPr>
          <p:cNvSpPr>
            <a:spLocks xmlns:a="http://schemas.openxmlformats.org/drawingml/2006/main" noGrp="1"/>
          </p:cNvSpPr>
          <p:nvPr/>
        </p:nvSpPr>
        <p:spPr>
          <a:xfrm xmlns:a="http://schemas.openxmlformats.org/drawingml/2006/main">
            <a:off x="4333875" y="300037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Readable rules reveal thresholds and interactions</a:t>
            </a:r>
          </a:p>
        </p:txBody>
      </p:sp>
      <p:sp>
        <p:nvSpPr>
          <p:cNvPr id="7" name="">
            <a:extLst xmlns:a="http://schemas.openxmlformats.org/drawingml/2006/main">
              <a:ext uri="{FF2B5EF4-FFF2-40B4-BE49-F238E27FC236}">
                <a16:creationId xmlns:a16="http://schemas.microsoft.com/office/drawing/2014/main" id="{73579F8B-170D-4A52-99B8-4CAEBEE4C5B1}"/>
              </a:ext>
            </a:extLst>
          </p:cNvPr>
          <p:cNvSpPr>
            <a:spLocks xmlns:a="http://schemas.openxmlformats.org/drawingml/2006/main" noGrp="1"/>
          </p:cNvSpPr>
          <p:nvPr/>
        </p:nvSpPr>
        <p:spPr>
          <a:xfrm xmlns:a="http://schemas.openxmlformats.org/drawingml/2006/main">
            <a:off x="685800" y="4276725"/>
            <a:ext cx="328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6796B"/>
                </a:solidFill>
                <a:latin typeface="Arial"/>
                <a:ea typeface="Arial"/>
                <a:cs typeface="Arial"/>
              </a:defRPr>
            </a:pPr>
            <a:r>
              <a:rPr sz="2475" b="1">
                <a:solidFill>
                  <a:srgbClr val="16796B"/>
                </a:solidFill>
                <a:latin typeface="Arial"/>
                <a:ea typeface="Arial"/>
                <a:cs typeface="Arial"/>
              </a:rPr>
              <a:t>Random Forest</a:t>
            </a:r>
          </a:p>
        </p:txBody>
      </p:sp>
      <p:sp>
        <p:nvSpPr>
          <p:cNvPr id="8" name="">
            <a:extLst xmlns:a="http://schemas.openxmlformats.org/drawingml/2006/main">
              <a:ext uri="{FF2B5EF4-FFF2-40B4-BE49-F238E27FC236}">
                <a16:creationId xmlns:a16="http://schemas.microsoft.com/office/drawing/2014/main" id="{10F839FD-015E-4DBE-A8E5-3C0AF021F079}"/>
              </a:ext>
            </a:extLst>
          </p:cNvPr>
          <p:cNvSpPr>
            <a:spLocks xmlns:a="http://schemas.openxmlformats.org/drawingml/2006/main" noGrp="1"/>
          </p:cNvSpPr>
          <p:nvPr/>
        </p:nvSpPr>
        <p:spPr>
          <a:xfrm xmlns:a="http://schemas.openxmlformats.org/drawingml/2006/main">
            <a:off x="4333875" y="4276725"/>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32B36"/>
                </a:solidFill>
                <a:latin typeface="Arial"/>
                <a:ea typeface="Arial"/>
                <a:cs typeface="Arial"/>
              </a:defRPr>
            </a:pPr>
            <a:r>
              <a:rPr sz="2250" b="0">
                <a:solidFill>
                  <a:srgbClr val="132B36"/>
                </a:solidFill>
                <a:latin typeface="Arial"/>
                <a:ea typeface="Arial"/>
                <a:cs typeface="Arial"/>
              </a:rPr>
              <a:t>Primary model for nonlinear tabular relationships</a:t>
            </a:r>
          </a:p>
        </p:txBody>
      </p:sp>
      <p:sp>
        <p:nvSpPr>
          <p:cNvPr id="9" name="">
            <a:extLst xmlns:a="http://schemas.openxmlformats.org/drawingml/2006/main">
              <a:ext uri="{FF2B5EF4-FFF2-40B4-BE49-F238E27FC236}">
                <a16:creationId xmlns:a16="http://schemas.microsoft.com/office/drawing/2014/main" id="{702915A2-946B-4864-B898-674D1B06EDC9}"/>
              </a:ext>
            </a:extLst>
          </p:cNvPr>
          <p:cNvSpPr>
            <a:spLocks xmlns:a="http://schemas.openxmlformats.org/drawingml/2006/main" noGrp="1"/>
          </p:cNvSpPr>
          <p:nvPr/>
        </p:nvSpPr>
        <p:spPr>
          <a:xfrm xmlns:a="http://schemas.openxmlformats.org/drawingml/2006/main">
            <a:off x="685800" y="58102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Compare training and validation performance, including rare failures</a:t>
            </a:r>
          </a:p>
        </p:txBody>
      </p:sp>
    </p:spTree>
    <p:extLst>
      <p:ext uri="{BB962C8B-B14F-4D97-AF65-F5344CB8AC3E}">
        <p14:creationId xmlns:p14="http://schemas.microsoft.com/office/powerpoint/2010/main" val="1279421579"/>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A3FB1CB-D95B-4801-9D13-D5BDDC06D8E0}"/>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Data checks and three-way split</a:t>
            </a:r>
          </a:p>
        </p:txBody>
      </p:sp>
      <p:sp>
        <p:nvSpPr>
          <p:cNvPr id="2" name="">
            <a:extLst xmlns:a="http://schemas.openxmlformats.org/drawingml/2006/main">
              <a:ext uri="{FF2B5EF4-FFF2-40B4-BE49-F238E27FC236}">
                <a16:creationId xmlns:a16="http://schemas.microsoft.com/office/drawing/2014/main" id="{AC54A483-0988-4BAF-AFC0-E24E5749660D}"/>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4C95EEF8-8291-4754-9A90-7C7AA9845D25}"/>
              </a:ext>
            </a:extLst>
          </p:cNvPr>
          <p:cNvSpPr>
            <a:spLocks xmlns:a="http://schemas.openxmlformats.org/drawingml/2006/main" noGrp="1"/>
          </p:cNvSpPr>
          <p:nvPr/>
        </p:nvSpPr>
        <p:spPr>
          <a:xfrm xmlns:a="http://schemas.openxmlformats.org/drawingml/2006/main">
            <a:off x="685800" y="169545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Check schema, target values, missingness and duplicates</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Assert split isolation and exclude leaky inputs</a:t>
            </a:r>
          </a:p>
        </p:txBody>
      </p:sp>
      <p:sp>
        <p:nvSpPr>
          <p:cNvPr id="4" name="">
            <a:extLst xmlns:a="http://schemas.openxmlformats.org/drawingml/2006/main">
              <a:ext uri="{FF2B5EF4-FFF2-40B4-BE49-F238E27FC236}">
                <a16:creationId xmlns:a16="http://schemas.microsoft.com/office/drawing/2014/main" id="{E45E14E2-988E-4C70-8994-20C7AB477FCF}"/>
              </a:ext>
            </a:extLst>
          </p:cNvPr>
          <p:cNvSpPr>
            <a:spLocks xmlns:a="http://schemas.openxmlformats.org/drawingml/2006/main" noGrp="1"/>
          </p:cNvSpPr>
          <p:nvPr/>
        </p:nvSpPr>
        <p:spPr>
          <a:xfrm xmlns:a="http://schemas.openxmlformats.org/drawingml/2006/main">
            <a:off x="6858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Train: 6,000 rows</a:t>
            </a:r>
          </a:p>
        </p:txBody>
      </p:sp>
      <p:sp>
        <p:nvSpPr>
          <p:cNvPr id="5" name="">
            <a:extLst xmlns:a="http://schemas.openxmlformats.org/drawingml/2006/main">
              <a:ext uri="{FF2B5EF4-FFF2-40B4-BE49-F238E27FC236}">
                <a16:creationId xmlns:a16="http://schemas.microsoft.com/office/drawing/2014/main" id="{1A4522EC-B1E5-40B6-B9E8-05E655BE8991}"/>
              </a:ext>
            </a:extLst>
          </p:cNvPr>
          <p:cNvSpPr>
            <a:spLocks xmlns:a="http://schemas.openxmlformats.org/drawingml/2006/main" noGrp="1"/>
          </p:cNvSpPr>
          <p:nvPr/>
        </p:nvSpPr>
        <p:spPr>
          <a:xfrm xmlns:a="http://schemas.openxmlformats.org/drawingml/2006/main">
            <a:off x="4457700" y="3371850"/>
            <a:ext cx="32385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Validation: 2,000 rows</a:t>
            </a:r>
          </a:p>
        </p:txBody>
      </p:sp>
      <p:sp>
        <p:nvSpPr>
          <p:cNvPr id="6" name="">
            <a:extLst xmlns:a="http://schemas.openxmlformats.org/drawingml/2006/main">
              <a:ext uri="{FF2B5EF4-FFF2-40B4-BE49-F238E27FC236}">
                <a16:creationId xmlns:a16="http://schemas.microsoft.com/office/drawing/2014/main" id="{1E766C73-167C-4A42-B364-54B853A3DE3B}"/>
              </a:ext>
            </a:extLst>
          </p:cNvPr>
          <p:cNvSpPr>
            <a:spLocks xmlns:a="http://schemas.openxmlformats.org/drawingml/2006/main" noGrp="1"/>
          </p:cNvSpPr>
          <p:nvPr/>
        </p:nvSpPr>
        <p:spPr>
          <a:xfrm xmlns:a="http://schemas.openxmlformats.org/drawingml/2006/main">
            <a:off x="8420100" y="3371850"/>
            <a:ext cx="3048000" cy="8763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Test: 2,000 rows</a:t>
            </a:r>
          </a:p>
        </p:txBody>
      </p:sp>
      <p:sp>
        <p:nvSpPr>
          <p:cNvPr id="7" name="">
            <a:extLst xmlns:a="http://schemas.openxmlformats.org/drawingml/2006/main">
              <a:ext uri="{FF2B5EF4-FFF2-40B4-BE49-F238E27FC236}">
                <a16:creationId xmlns:a16="http://schemas.microsoft.com/office/drawing/2014/main" id="{17E67194-1FAC-4BC0-B1E6-A0EDA20FA489}"/>
              </a:ext>
            </a:extLst>
          </p:cNvPr>
          <p:cNvSpPr>
            <a:spLocks xmlns:a="http://schemas.openxmlformats.org/drawingml/2006/main" noGrp="1"/>
          </p:cNvSpPr>
          <p:nvPr/>
        </p:nvSpPr>
        <p:spPr>
          <a:xfrm xmlns:a="http://schemas.openxmlformats.org/drawingml/2006/main">
            <a:off x="6858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Learn preprocessing</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and model parameters</a:t>
            </a:r>
          </a:p>
        </p:txBody>
      </p:sp>
      <p:sp>
        <p:nvSpPr>
          <p:cNvPr id="8" name="">
            <a:extLst xmlns:a="http://schemas.openxmlformats.org/drawingml/2006/main">
              <a:ext uri="{FF2B5EF4-FFF2-40B4-BE49-F238E27FC236}">
                <a16:creationId xmlns:a16="http://schemas.microsoft.com/office/drawing/2014/main" id="{7F3870B9-9D33-4FCC-B7C2-C2FD42F49F6E}"/>
              </a:ext>
            </a:extLst>
          </p:cNvPr>
          <p:cNvSpPr>
            <a:spLocks xmlns:a="http://schemas.openxmlformats.org/drawingml/2006/main" noGrp="1"/>
          </p:cNvSpPr>
          <p:nvPr/>
        </p:nvSpPr>
        <p:spPr>
          <a:xfrm xmlns:a="http://schemas.openxmlformats.org/drawingml/2006/main">
            <a:off x="4457700" y="44481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Choose model</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and decision threshold</a:t>
            </a:r>
          </a:p>
        </p:txBody>
      </p:sp>
      <p:sp>
        <p:nvSpPr>
          <p:cNvPr id="9" name="">
            <a:extLst xmlns:a="http://schemas.openxmlformats.org/drawingml/2006/main">
              <a:ext uri="{FF2B5EF4-FFF2-40B4-BE49-F238E27FC236}">
                <a16:creationId xmlns:a16="http://schemas.microsoft.com/office/drawing/2014/main" id="{4D51E6A4-B8BF-4812-8350-45F9FF81834C}"/>
              </a:ext>
            </a:extLst>
          </p:cNvPr>
          <p:cNvSpPr>
            <a:spLocks xmlns:a="http://schemas.openxmlformats.org/drawingml/2006/main" noGrp="1"/>
          </p:cNvSpPr>
          <p:nvPr/>
        </p:nvSpPr>
        <p:spPr>
          <a:xfrm xmlns:a="http://schemas.openxmlformats.org/drawingml/2006/main">
            <a:off x="8420100" y="44481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Evaluate the</a:t>
            </a:r>
          </a:p>
          <a:p xmlns:a="http://schemas.openxmlformats.org/drawingml/2006/main">
            <a:pPr>
              <a:defRPr sz="2025" b="0">
                <a:solidFill>
                  <a:srgbClr val="132B36"/>
                </a:solidFill>
                <a:latin typeface="Arial"/>
                <a:ea typeface="Arial"/>
                <a:cs typeface="Arial"/>
              </a:defRPr>
            </a:pPr>
            <a:r>
              <a:rPr sz="2025" b="0">
                <a:solidFill>
                  <a:srgbClr val="132B36"/>
                </a:solidFill>
                <a:latin typeface="Arial"/>
                <a:ea typeface="Arial"/>
                <a:cs typeface="Arial"/>
              </a:rPr>
              <a:t>frozen decision</a:t>
            </a:r>
          </a:p>
        </p:txBody>
      </p:sp>
      <p:sp>
        <p:nvSpPr>
          <p:cNvPr id="10" name="">
            <a:extLst xmlns:a="http://schemas.openxmlformats.org/drawingml/2006/main">
              <a:ext uri="{FF2B5EF4-FFF2-40B4-BE49-F238E27FC236}">
                <a16:creationId xmlns:a16="http://schemas.microsoft.com/office/drawing/2014/main" id="{CE2AD877-FE61-43DA-82E0-E83EBDAF4D26}"/>
              </a:ext>
            </a:extLst>
          </p:cNvPr>
          <p:cNvSpPr>
            <a:spLocks xmlns:a="http://schemas.openxmlformats.org/drawingml/2006/main" noGrp="1"/>
          </p:cNvSpPr>
          <p:nvPr/>
        </p:nvSpPr>
        <p:spPr>
          <a:xfrm xmlns:a="http://schemas.openxmlformats.org/drawingml/2006/main">
            <a:off x="685800" y="58197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Stratified 60 / 20 / 20 split, seed 42</a:t>
            </a:r>
          </a:p>
        </p:txBody>
      </p:sp>
    </p:spTree>
    <p:extLst>
      <p:ext uri="{BB962C8B-B14F-4D97-AF65-F5344CB8AC3E}">
        <p14:creationId xmlns:p14="http://schemas.microsoft.com/office/powerpoint/2010/main" val="1733495765"/>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0C70065-EB2E-4B32-A4D3-2553294FF243}"/>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Train the model and test it</a:t>
            </a:r>
          </a:p>
        </p:txBody>
      </p:sp>
      <p:sp>
        <p:nvSpPr>
          <p:cNvPr id="2" name="">
            <a:extLst xmlns:a="http://schemas.openxmlformats.org/drawingml/2006/main">
              <a:ext uri="{FF2B5EF4-FFF2-40B4-BE49-F238E27FC236}">
                <a16:creationId xmlns:a16="http://schemas.microsoft.com/office/drawing/2014/main" id="{BF930757-FCB7-41AF-80F1-6DFDE36EF609}"/>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95B825C6-A2AC-4EF1-B07B-8360BE1C7A62}"/>
              </a:ext>
            </a:extLst>
          </p:cNvPr>
          <p:cNvSpPr>
            <a:spLocks xmlns:a="http://schemas.openxmlformats.org/drawingml/2006/main" noGrp="1"/>
          </p:cNvSpPr>
          <p:nvPr/>
        </p:nvSpPr>
        <p:spPr>
          <a:xfrm xmlns:a="http://schemas.openxmlformats.org/drawingml/2006/main">
            <a:off x="685800" y="1771650"/>
            <a:ext cx="10763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1   Fit preprocessing and candidates on training rows</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2   Compare validation scores and the overfitting gap</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3   Select the threshold using validation error costs</a:t>
            </a:r>
          </a:p>
          <a:p xmlns:a="http://schemas.openxmlformats.org/drawingml/2006/main">
            <a:pPr>
              <a:defRPr sz="2475" b="0">
                <a:solidFill>
                  <a:srgbClr val="132B36"/>
                </a:solidFill>
                <a:latin typeface="Arial"/>
                <a:ea typeface="Arial"/>
                <a:cs typeface="Arial"/>
              </a:defRPr>
            </a:pPr>
            <a:r>
              <a:rPr sz="2475" b="0">
                <a:solidFill>
                  <a:srgbClr val="132B36"/>
                </a:solidFill>
                <a:latin typeface="Arial"/>
                <a:ea typeface="Arial"/>
                <a:cs typeface="Arial"/>
              </a:rPr>
              <a:t>4   Freeze the pipeline and threshold, then test once</a:t>
            </a:r>
          </a:p>
        </p:txBody>
      </p:sp>
      <p:sp>
        <p:nvSpPr>
          <p:cNvPr id="4" name="">
            <a:extLst xmlns:a="http://schemas.openxmlformats.org/drawingml/2006/main">
              <a:ext uri="{FF2B5EF4-FFF2-40B4-BE49-F238E27FC236}">
                <a16:creationId xmlns:a16="http://schemas.microsoft.com/office/drawing/2014/main" id="{5BACA044-6153-459A-9AF7-E005E37FCDD4}"/>
              </a:ext>
            </a:extLst>
          </p:cNvPr>
          <p:cNvSpPr>
            <a:spLocks xmlns:a="http://schemas.openxmlformats.org/drawingml/2006/main" noGrp="1"/>
          </p:cNvSpPr>
          <p:nvPr/>
        </p:nvSpPr>
        <p:spPr>
          <a:xfrm xmlns:a="http://schemas.openxmlformats.org/drawingml/2006/main">
            <a:off x="685800" y="5210175"/>
            <a:ext cx="10668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Saved decision: failure score ≥ 0.13</a:t>
            </a:r>
          </a:p>
          <a:p xmlns:a="http://schemas.openxmlformats.org/drawingml/2006/main">
            <a:pPr>
              <a:defRPr sz="2250" b="1">
                <a:solidFill>
                  <a:srgbClr val="16796B"/>
                </a:solidFill>
                <a:latin typeface="Arial"/>
                <a:ea typeface="Arial"/>
                <a:cs typeface="Arial"/>
              </a:defRPr>
            </a:pPr>
            <a:r>
              <a:rPr sz="2250" b="1">
                <a:solidFill>
                  <a:srgbClr val="16796B"/>
                </a:solidFill>
                <a:latin typeface="Arial"/>
                <a:ea typeface="Arial"/>
                <a:cs typeface="Arial"/>
              </a:rPr>
              <a:t>Export the entire pipeline plus schema, threshold and versions</a:t>
            </a:r>
          </a:p>
        </p:txBody>
      </p:sp>
    </p:spTree>
    <p:extLst>
      <p:ext uri="{BB962C8B-B14F-4D97-AF65-F5344CB8AC3E}">
        <p14:creationId xmlns:p14="http://schemas.microsoft.com/office/powerpoint/2010/main" val="1760172935"/>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D35700C-8181-42C7-BA80-C6712669402E}"/>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Evaluation metrics</a:t>
            </a:r>
          </a:p>
        </p:txBody>
      </p:sp>
      <p:sp>
        <p:nvSpPr>
          <p:cNvPr id="2" name="">
            <a:extLst xmlns:a="http://schemas.openxmlformats.org/drawingml/2006/main">
              <a:ext uri="{FF2B5EF4-FFF2-40B4-BE49-F238E27FC236}">
                <a16:creationId xmlns:a16="http://schemas.microsoft.com/office/drawing/2014/main" id="{B7D6E1D6-D2F2-4AFA-8713-5119CF3C54ED}"/>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7130C215-524A-47BD-9AC4-F60734D4BE45}"/>
              </a:ext>
            </a:extLst>
          </p:cNvPr>
          <p:cNvSpPr>
            <a:spLocks xmlns:a="http://schemas.openxmlformats.org/drawingml/2006/main" noGrp="1"/>
          </p:cNvSpPr>
          <p:nvPr/>
        </p:nvSpPr>
        <p:spPr>
          <a:xfrm xmlns:a="http://schemas.openxmlformats.org/drawingml/2006/main">
            <a:off x="685800"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88.2% recall</a:t>
            </a:r>
          </a:p>
        </p:txBody>
      </p:sp>
      <p:sp>
        <p:nvSpPr>
          <p:cNvPr id="4" name="">
            <a:extLst xmlns:a="http://schemas.openxmlformats.org/drawingml/2006/main">
              <a:ext uri="{FF2B5EF4-FFF2-40B4-BE49-F238E27FC236}">
                <a16:creationId xmlns:a16="http://schemas.microsoft.com/office/drawing/2014/main" id="{A047E495-C9F0-4CB0-880B-98B23E268152}"/>
              </a:ext>
            </a:extLst>
          </p:cNvPr>
          <p:cNvSpPr>
            <a:spLocks xmlns:a="http://schemas.openxmlformats.org/drawingml/2006/main" noGrp="1"/>
          </p:cNvSpPr>
          <p:nvPr/>
        </p:nvSpPr>
        <p:spPr>
          <a:xfrm xmlns:a="http://schemas.openxmlformats.org/drawingml/2006/main">
            <a:off x="685800"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68 failures detected</a:t>
            </a:r>
          </a:p>
        </p:txBody>
      </p:sp>
      <p:sp>
        <p:nvSpPr>
          <p:cNvPr id="5" name="">
            <a:extLst xmlns:a="http://schemas.openxmlformats.org/drawingml/2006/main">
              <a:ext uri="{FF2B5EF4-FFF2-40B4-BE49-F238E27FC236}">
                <a16:creationId xmlns:a16="http://schemas.microsoft.com/office/drawing/2014/main" id="{476B403B-3741-465F-9A32-806D77592442}"/>
              </a:ext>
            </a:extLst>
          </p:cNvPr>
          <p:cNvSpPr>
            <a:spLocks xmlns:a="http://schemas.openxmlformats.org/drawingml/2006/main" noGrp="1"/>
          </p:cNvSpPr>
          <p:nvPr/>
        </p:nvSpPr>
        <p:spPr>
          <a:xfrm xmlns:a="http://schemas.openxmlformats.org/drawingml/2006/main">
            <a:off x="6524625" y="1781175"/>
            <a:ext cx="4857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6796B"/>
                </a:solidFill>
                <a:latin typeface="Arial"/>
                <a:ea typeface="Arial"/>
                <a:cs typeface="Arial"/>
              </a:defRPr>
            </a:pPr>
            <a:r>
              <a:rPr sz="3300" b="1">
                <a:solidFill>
                  <a:srgbClr val="16796B"/>
                </a:solidFill>
                <a:latin typeface="Arial"/>
                <a:ea typeface="Arial"/>
                <a:cs typeface="Arial"/>
              </a:rPr>
              <a:t>31.6% precision</a:t>
            </a:r>
          </a:p>
        </p:txBody>
      </p:sp>
      <p:sp>
        <p:nvSpPr>
          <p:cNvPr id="6" name="">
            <a:extLst xmlns:a="http://schemas.openxmlformats.org/drawingml/2006/main">
              <a:ext uri="{FF2B5EF4-FFF2-40B4-BE49-F238E27FC236}">
                <a16:creationId xmlns:a16="http://schemas.microsoft.com/office/drawing/2014/main" id="{97DA82EE-E6E4-4DA5-94EF-D8361B826D97}"/>
              </a:ext>
            </a:extLst>
          </p:cNvPr>
          <p:cNvSpPr>
            <a:spLocks xmlns:a="http://schemas.openxmlformats.org/drawingml/2006/main" noGrp="1"/>
          </p:cNvSpPr>
          <p:nvPr/>
        </p:nvSpPr>
        <p:spPr>
          <a:xfrm xmlns:a="http://schemas.openxmlformats.org/drawingml/2006/main">
            <a:off x="6524625" y="2505075"/>
            <a:ext cx="4857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60 of 190 alerts were failures</a:t>
            </a:r>
          </a:p>
        </p:txBody>
      </p:sp>
      <p:sp>
        <p:nvSpPr>
          <p:cNvPr id="7" name="">
            <a:extLst xmlns:a="http://schemas.openxmlformats.org/drawingml/2006/main">
              <a:ext uri="{FF2B5EF4-FFF2-40B4-BE49-F238E27FC236}">
                <a16:creationId xmlns:a16="http://schemas.microsoft.com/office/drawing/2014/main" id="{315366D6-5572-47B3-8C5C-A3EF38ED5790}"/>
              </a:ext>
            </a:extLst>
          </p:cNvPr>
          <p:cNvSpPr>
            <a:spLocks xmlns:a="http://schemas.openxmlformats.org/drawingml/2006/main" noGrp="1"/>
          </p:cNvSpPr>
          <p:nvPr/>
        </p:nvSpPr>
        <p:spPr>
          <a:xfrm xmlns:a="http://schemas.openxmlformats.org/drawingml/2006/main">
            <a:off x="685800" y="34861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32B36"/>
                </a:solidFill>
                <a:latin typeface="Arial"/>
                <a:ea typeface="Arial"/>
                <a:cs typeface="Arial"/>
              </a:defRPr>
            </a:pPr>
            <a:r>
              <a:rPr sz="2775" b="1">
                <a:solidFill>
                  <a:srgbClr val="132B36"/>
                </a:solidFill>
                <a:latin typeface="Arial"/>
                <a:ea typeface="Arial"/>
                <a:cs typeface="Arial"/>
              </a:rPr>
              <a:t>8 missed failures     130 false alarms</a:t>
            </a:r>
          </a:p>
        </p:txBody>
      </p:sp>
      <p:sp>
        <p:nvSpPr>
          <p:cNvPr id="8" name="">
            <a:extLst xmlns:a="http://schemas.openxmlformats.org/drawingml/2006/main">
              <a:ext uri="{FF2B5EF4-FFF2-40B4-BE49-F238E27FC236}">
                <a16:creationId xmlns:a16="http://schemas.microsoft.com/office/drawing/2014/main" id="{A6A2C7E7-936E-4097-89E8-140CFD16E8AC}"/>
              </a:ext>
            </a:extLst>
          </p:cNvPr>
          <p:cNvSpPr>
            <a:spLocks xmlns:a="http://schemas.openxmlformats.org/drawingml/2006/main" noGrp="1"/>
          </p:cNvSpPr>
          <p:nvPr/>
        </p:nvSpPr>
        <p:spPr>
          <a:xfrm xmlns:a="http://schemas.openxmlformats.org/drawingml/2006/main">
            <a:off x="685800" y="4429125"/>
            <a:ext cx="106680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Accuracy 93.1%     F1 0.465</a:t>
            </a:r>
          </a:p>
          <a:p xmlns:a="http://schemas.openxmlformats.org/drawingml/2006/main">
            <a:pPr>
              <a:defRPr sz="2325" b="0">
                <a:solidFill>
                  <a:srgbClr val="132B36"/>
                </a:solidFill>
                <a:latin typeface="Arial"/>
                <a:ea typeface="Arial"/>
                <a:cs typeface="Arial"/>
              </a:defRPr>
            </a:pPr>
            <a:r>
              <a:rPr sz="2325" b="0">
                <a:solidFill>
                  <a:srgbClr val="132B36"/>
                </a:solidFill>
                <a:latin typeface="Arial"/>
                <a:ea typeface="Arial"/>
                <a:cs typeface="Arial"/>
              </a:rPr>
              <a:t>Average precision 0.688     ROC-AUC 0.974</a:t>
            </a:r>
          </a:p>
        </p:txBody>
      </p:sp>
      <p:sp>
        <p:nvSpPr>
          <p:cNvPr id="9" name="">
            <a:extLst xmlns:a="http://schemas.openxmlformats.org/drawingml/2006/main">
              <a:ext uri="{FF2B5EF4-FFF2-40B4-BE49-F238E27FC236}">
                <a16:creationId xmlns:a16="http://schemas.microsoft.com/office/drawing/2014/main" id="{8664B09A-987E-410B-B62B-8C727E123E67}"/>
              </a:ext>
            </a:extLst>
          </p:cNvPr>
          <p:cNvSpPr>
            <a:spLocks xmlns:a="http://schemas.openxmlformats.org/drawingml/2006/main" noGrp="1"/>
          </p:cNvSpPr>
          <p:nvPr/>
        </p:nvSpPr>
        <p:spPr>
          <a:xfrm xmlns:a="http://schemas.openxmlformats.org/drawingml/2006/main">
            <a:off x="68580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Accuracy alone hides the cost of rare failures</a:t>
            </a:r>
          </a:p>
        </p:txBody>
      </p:sp>
    </p:spTree>
    <p:extLst>
      <p:ext uri="{BB962C8B-B14F-4D97-AF65-F5344CB8AC3E}">
        <p14:creationId xmlns:p14="http://schemas.microsoft.com/office/powerpoint/2010/main" val="2035046124"/>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8713074-6C6A-4D9A-9DFE-D1B8DCBABB3D}"/>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Inference using Kafka</a:t>
            </a:r>
          </a:p>
        </p:txBody>
      </p:sp>
      <p:sp>
        <p:nvSpPr>
          <p:cNvPr id="2" name="">
            <a:extLst xmlns:a="http://schemas.openxmlformats.org/drawingml/2006/main">
              <a:ext uri="{FF2B5EF4-FFF2-40B4-BE49-F238E27FC236}">
                <a16:creationId xmlns:a16="http://schemas.microsoft.com/office/drawing/2014/main" id="{15F9D303-FED8-429A-AAED-41A8A107620D}"/>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09</a:t>
            </a:r>
          </a:p>
        </p:txBody>
      </p:sp>
      <p:sp>
        <p:nvSpPr>
          <p:cNvPr id="3" name="">
            <a:extLst xmlns:a="http://schemas.openxmlformats.org/drawingml/2006/main">
              <a:ext uri="{FF2B5EF4-FFF2-40B4-BE49-F238E27FC236}">
                <a16:creationId xmlns:a16="http://schemas.microsoft.com/office/drawing/2014/main" id="{B1E6F30D-7660-48D6-BF43-7B903FAC253B}"/>
              </a:ext>
            </a:extLst>
          </p:cNvPr>
          <p:cNvSpPr>
            <a:spLocks xmlns:a="http://schemas.openxmlformats.org/drawingml/2006/main" noGrp="1"/>
          </p:cNvSpPr>
          <p:nvPr/>
        </p:nvSpPr>
        <p:spPr>
          <a:xfrm xmlns:a="http://schemas.openxmlformats.org/drawingml/2006/main">
            <a:off x="685800" y="1714500"/>
            <a:ext cx="266700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producer.py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Test-row replay</a:t>
            </a:r>
          </a:p>
        </p:txBody>
      </p:sp>
      <p:sp>
        <p:nvSpPr>
          <p:cNvPr id="4" name="">
            <a:extLst xmlns:a="http://schemas.openxmlformats.org/drawingml/2006/main">
              <a:ext uri="{FF2B5EF4-FFF2-40B4-BE49-F238E27FC236}">
                <a16:creationId xmlns:a16="http://schemas.microsoft.com/office/drawing/2014/main" id="{95EC2D3B-FFB2-4ED4-80E0-52BBA9C49CC7}"/>
              </a:ext>
            </a:extLst>
          </p:cNvPr>
          <p:cNvSpPr>
            <a:spLocks xmlns:a="http://schemas.openxmlformats.org/drawingml/2006/main" noGrp="1"/>
          </p:cNvSpPr>
          <p:nvPr/>
        </p:nvSpPr>
        <p:spPr>
          <a:xfrm xmlns:a="http://schemas.openxmlformats.org/drawingml/2006/main">
            <a:off x="4552950" y="1714500"/>
            <a:ext cx="29527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Kafka topic</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machine.telemetry</a:t>
            </a:r>
          </a:p>
        </p:txBody>
      </p:sp>
      <p:sp>
        <p:nvSpPr>
          <p:cNvPr id="5" name="">
            <a:extLst xmlns:a="http://schemas.openxmlformats.org/drawingml/2006/main">
              <a:ext uri="{FF2B5EF4-FFF2-40B4-BE49-F238E27FC236}">
                <a16:creationId xmlns:a16="http://schemas.microsoft.com/office/drawing/2014/main" id="{C339838D-E8C7-4736-83C3-D9E3827EE30F}"/>
              </a:ext>
            </a:extLst>
          </p:cNvPr>
          <p:cNvSpPr>
            <a:spLocks xmlns:a="http://schemas.openxmlformats.org/drawingml/2006/main" noGrp="1"/>
          </p:cNvSpPr>
          <p:nvPr/>
        </p:nvSpPr>
        <p:spPr>
          <a:xfrm xmlns:a="http://schemas.openxmlformats.org/drawingml/2006/main">
            <a:off x="8705850" y="1714500"/>
            <a:ext cx="2762250" cy="904875"/>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consumer.py</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Saved pipeline</a:t>
            </a:r>
          </a:p>
        </p:txBody>
      </p:sp>
      <p:cxnSp>
        <p:nvCxnSpPr>
          <p:cNvPr id="15" name=""/>
          <p:cNvCxnSpPr>
            <a:stCxn xmlns:a="http://schemas.openxmlformats.org/drawingml/2006/main" id="3" idx="3"/>
            <a:endCxn xmlns:a="http://schemas.openxmlformats.org/drawingml/2006/main" id="4" idx="1"/>
          </p:cNvCxnSpPr>
          <p:nvPr/>
        </p:nvCxnSpPr>
        <p:spPr>
          <a:xfrm xmlns:a="http://schemas.openxmlformats.org/drawingml/2006/main">
            <a:off x="3352800" y="2166938"/>
            <a:ext cx="1200150" cy="0"/>
          </a:xfrm>
          <a:prstGeom xmlns:a="http://schemas.openxmlformats.org/drawingml/2006/main" prst="straightConnector1">
            <a:avLst/>
          </a:prstGeom>
          <a:ln xmlns:a="http://schemas.openxmlformats.org/drawingml/2006/main" w="19050">
            <a:solidFill>
              <a:srgbClr val="16796B"/>
            </a:solidFill>
            <a:headEnd type="triangle" w="med" len="med"/>
          </a:ln>
        </p:spPr>
      </p:cxnSp>
      <p:cxnSp>
        <p:nvCxnSpPr>
          <p:cNvPr id="16" name=""/>
          <p:cNvCxnSpPr>
            <a:stCxn xmlns:a="http://schemas.openxmlformats.org/drawingml/2006/main" id="4" idx="3"/>
            <a:endCxn xmlns:a="http://schemas.openxmlformats.org/drawingml/2006/main" id="5" idx="1"/>
          </p:cNvCxnSpPr>
          <p:nvPr/>
        </p:nvCxnSpPr>
        <p:spPr>
          <a:xfrm xmlns:a="http://schemas.openxmlformats.org/drawingml/2006/main">
            <a:off x="7505700" y="2166938"/>
            <a:ext cx="1200150" cy="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8" name="">
            <a:extLst xmlns:a="http://schemas.openxmlformats.org/drawingml/2006/main">
              <a:ext uri="{FF2B5EF4-FFF2-40B4-BE49-F238E27FC236}">
                <a16:creationId xmlns:a16="http://schemas.microsoft.com/office/drawing/2014/main" id="{AE7F2964-9538-4A67-A488-AE3BB73BD501}"/>
              </a:ext>
            </a:extLst>
          </p:cNvPr>
          <p:cNvSpPr>
            <a:spLocks xmlns:a="http://schemas.openxmlformats.org/drawingml/2006/main" noGrp="1"/>
          </p:cNvSpPr>
          <p:nvPr/>
        </p:nvSpPr>
        <p:spPr>
          <a:xfrm xmlns:a="http://schemas.openxmlformats.org/drawingml/2006/main">
            <a:off x="685800" y="3238500"/>
            <a:ext cx="10763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src/consumer.py --metrics-every 20</a:t>
            </a:r>
          </a:p>
          <a:p xmlns:a="http://schemas.openxmlformats.org/drawingml/2006/main">
            <a:pPr>
              <a:defRPr sz="2325" b="1">
                <a:solidFill>
                  <a:srgbClr val="132B36"/>
                </a:solidFill>
                <a:latin typeface="Arial"/>
                <a:ea typeface="Arial"/>
                <a:cs typeface="Arial"/>
              </a:defRPr>
            </a:pPr>
            <a:r>
              <a:rPr sz="2325" b="1">
                <a:solidFill>
                  <a:srgbClr val="132B36"/>
                </a:solidFill>
                <a:latin typeface="Arial"/>
                <a:ea typeface="Arial"/>
                <a:cs typeface="Arial"/>
              </a:rPr>
              <a:t>python src/producer.py --rate 5</a:t>
            </a:r>
          </a:p>
        </p:txBody>
      </p:sp>
      <p:sp>
        <p:nvSpPr>
          <p:cNvPr id="9" name="">
            <a:extLst xmlns:a="http://schemas.openxmlformats.org/drawingml/2006/main">
              <a:ext uri="{FF2B5EF4-FFF2-40B4-BE49-F238E27FC236}">
                <a16:creationId xmlns:a16="http://schemas.microsoft.com/office/drawing/2014/main" id="{DD2905A4-D464-45B5-BC6B-E78E4C692624}"/>
              </a:ext>
            </a:extLst>
          </p:cNvPr>
          <p:cNvSpPr>
            <a:spLocks xmlns:a="http://schemas.openxmlformats.org/drawingml/2006/main" noGrp="1"/>
          </p:cNvSpPr>
          <p:nvPr/>
        </p:nvSpPr>
        <p:spPr>
          <a:xfrm xmlns:a="http://schemas.openxmlformats.org/drawingml/2006/main">
            <a:off x="685800" y="4762500"/>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Output: failure score, decision, actual label and running metrics</a:t>
            </a:r>
          </a:p>
          <a:p xmlns:a="http://schemas.openxmlformats.org/drawingml/2006/main">
            <a:pPr>
              <a:defRPr sz="2175" b="0">
                <a:solidFill>
                  <a:srgbClr val="132B36"/>
                </a:solidFill>
                <a:latin typeface="Arial"/>
                <a:ea typeface="Arial"/>
                <a:cs typeface="Arial"/>
              </a:defRPr>
            </a:pPr>
            <a:r>
              <a:rPr sz="2175" b="0">
                <a:solidFill>
                  <a:srgbClr val="132B36"/>
                </a:solidFill>
                <a:latin typeface="Arial"/>
                <a:ea typeface="Arial"/>
                <a:cs typeface="Arial"/>
              </a:rPr>
              <a:t>Only features enter the model. Labels serve demo scoring.</a:t>
            </a:r>
          </a:p>
        </p:txBody>
      </p:sp>
    </p:spTree>
    <p:extLst>
      <p:ext uri="{BB962C8B-B14F-4D97-AF65-F5344CB8AC3E}">
        <p14:creationId xmlns:p14="http://schemas.microsoft.com/office/powerpoint/2010/main" val="1505128079"/>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5E2A9F2-A5CE-495C-BF38-529A0DDBD89C}"/>
              </a:ext>
            </a:extLst>
          </p:cNvPr>
          <p:cNvSpPr>
            <a:spLocks xmlns:a="http://schemas.openxmlformats.org/drawingml/2006/main" noGrp="1"/>
          </p:cNvSpPr>
          <p:nvPr/>
        </p:nvSpPr>
        <p:spPr>
          <a:xfrm xmlns:a="http://schemas.openxmlformats.org/drawingml/2006/main">
            <a:off x="609600" y="4191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32B36"/>
                </a:solidFill>
                <a:latin typeface="Arial"/>
                <a:ea typeface="Arial"/>
                <a:cs typeface="Arial"/>
              </a:defRPr>
            </a:pPr>
            <a:r>
              <a:rPr sz="3450" b="1">
                <a:solidFill>
                  <a:srgbClr val="132B36"/>
                </a:solidFill>
                <a:latin typeface="Arial"/>
                <a:ea typeface="Arial"/>
                <a:cs typeface="Arial"/>
              </a:rPr>
              <a:t>Agentic application with the model</a:t>
            </a:r>
          </a:p>
        </p:txBody>
      </p:sp>
      <p:sp>
        <p:nvSpPr>
          <p:cNvPr id="2" name="">
            <a:extLst xmlns:a="http://schemas.openxmlformats.org/drawingml/2006/main">
              <a:ext uri="{FF2B5EF4-FFF2-40B4-BE49-F238E27FC236}">
                <a16:creationId xmlns:a16="http://schemas.microsoft.com/office/drawing/2014/main" id="{80D3FAE7-37F7-4135-A735-E8611E8F677E}"/>
              </a:ext>
            </a:extLst>
          </p:cNvPr>
          <p:cNvSpPr>
            <a:spLocks xmlns:a="http://schemas.openxmlformats.org/drawingml/2006/main" noGrp="1"/>
          </p:cNvSpPr>
          <p:nvPr/>
        </p:nvSpPr>
        <p:spPr>
          <a:xfrm xmlns:a="http://schemas.openxmlformats.org/drawingml/2006/main">
            <a:off x="11191875" y="6353175"/>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6796B"/>
                </a:solidFill>
                <a:latin typeface="Arial"/>
                <a:ea typeface="Arial"/>
                <a:cs typeface="Arial"/>
              </a:defRPr>
            </a:pPr>
            <a:r>
              <a:rPr sz="1350" b="0">
                <a:solidFill>
                  <a:srgbClr val="16796B"/>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B2A49C81-A26D-497E-9F69-4EB3EDF9E8B7}"/>
              </a:ext>
            </a:extLst>
          </p:cNvPr>
          <p:cNvSpPr>
            <a:spLocks xmlns:a="http://schemas.openxmlformats.org/drawingml/2006/main" noGrp="1"/>
          </p:cNvSpPr>
          <p:nvPr/>
        </p:nvSpPr>
        <p:spPr>
          <a:xfrm xmlns:a="http://schemas.openxmlformats.org/drawingml/2006/main">
            <a:off x="609600" y="143827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Architecture: tool calling inside the application harness</a:t>
            </a:r>
          </a:p>
        </p:txBody>
      </p:sp>
      <p:sp>
        <p:nvSpPr>
          <p:cNvPr id="4" name="">
            <a:extLst xmlns:a="http://schemas.openxmlformats.org/drawingml/2006/main">
              <a:ext uri="{FF2B5EF4-FFF2-40B4-BE49-F238E27FC236}">
                <a16:creationId xmlns:a16="http://schemas.microsoft.com/office/drawing/2014/main" id="{89FDF100-EBF8-4CE1-8F12-7477C71907AF}"/>
              </a:ext>
            </a:extLst>
          </p:cNvPr>
          <p:cNvSpPr>
            <a:spLocks xmlns:a="http://schemas.openxmlformats.org/drawingml/2006/main" noGrp="1"/>
          </p:cNvSpPr>
          <p:nvPr/>
        </p:nvSpPr>
        <p:spPr>
          <a:xfrm xmlns:a="http://schemas.openxmlformats.org/drawingml/2006/main">
            <a:off x="609600" y="2057400"/>
            <a:ext cx="21907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User request</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 observation</a:t>
            </a:r>
          </a:p>
        </p:txBody>
      </p:sp>
      <p:sp>
        <p:nvSpPr>
          <p:cNvPr id="5" name="">
            <a:extLst xmlns:a="http://schemas.openxmlformats.org/drawingml/2006/main">
              <a:ext uri="{FF2B5EF4-FFF2-40B4-BE49-F238E27FC236}">
                <a16:creationId xmlns:a16="http://schemas.microsoft.com/office/drawing/2014/main" id="{0006201B-F6BD-415C-B412-C64D04A828D1}"/>
              </a:ext>
            </a:extLst>
          </p:cNvPr>
          <p:cNvSpPr>
            <a:spLocks xmlns:a="http://schemas.openxmlformats.org/drawingml/2006/main" noGrp="1"/>
          </p:cNvSpPr>
          <p:nvPr/>
        </p:nvSpPr>
        <p:spPr>
          <a:xfrm xmlns:a="http://schemas.openxmlformats.org/drawingml/2006/main">
            <a:off x="3467100" y="2057400"/>
            <a:ext cx="31432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LLM orchestrator</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Registered tool schema</a:t>
            </a:r>
          </a:p>
        </p:txBody>
      </p:sp>
      <p:sp>
        <p:nvSpPr>
          <p:cNvPr id="6" name="">
            <a:extLst xmlns:a="http://schemas.openxmlformats.org/drawingml/2006/main">
              <a:ext uri="{FF2B5EF4-FFF2-40B4-BE49-F238E27FC236}">
                <a16:creationId xmlns:a16="http://schemas.microsoft.com/office/drawing/2014/main" id="{70D3ECCA-F98E-4A93-B480-820CC72A986F}"/>
              </a:ext>
            </a:extLst>
          </p:cNvPr>
          <p:cNvSpPr>
            <a:spLocks xmlns:a="http://schemas.openxmlformats.org/drawingml/2006/main" noGrp="1"/>
          </p:cNvSpPr>
          <p:nvPr/>
        </p:nvSpPr>
        <p:spPr>
          <a:xfrm xmlns:a="http://schemas.openxmlformats.org/drawingml/2006/main">
            <a:off x="7277100" y="2057400"/>
            <a:ext cx="419100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Inference tool</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Pipeline + metadata</a:t>
            </a:r>
          </a:p>
        </p:txBody>
      </p:sp>
      <p:cxnSp>
        <p:nvCxnSpPr>
          <p:cNvPr id="27" name=""/>
          <p:cNvCxnSpPr>
            <a:stCxn xmlns:a="http://schemas.openxmlformats.org/drawingml/2006/main" id="4" idx="3"/>
            <a:endCxn xmlns:a="http://schemas.openxmlformats.org/drawingml/2006/main" id="5" idx="1"/>
          </p:cNvCxnSpPr>
          <p:nvPr/>
        </p:nvCxnSpPr>
        <p:spPr>
          <a:xfrm xmlns:a="http://schemas.openxmlformats.org/drawingml/2006/main">
            <a:off x="2800350" y="2476500"/>
            <a:ext cx="666750" cy="0"/>
          </a:xfrm>
          <a:prstGeom xmlns:a="http://schemas.openxmlformats.org/drawingml/2006/main" prst="straightConnector1">
            <a:avLst/>
          </a:prstGeom>
          <a:ln xmlns:a="http://schemas.openxmlformats.org/drawingml/2006/main" w="19050">
            <a:solidFill>
              <a:srgbClr val="16796B"/>
            </a:solidFill>
            <a:headEnd type="triangle" w="med" len="med"/>
          </a:ln>
        </p:spPr>
      </p:cxnSp>
      <p:cxnSp>
        <p:nvCxnSpPr>
          <p:cNvPr id="28" name=""/>
          <p:cNvCxnSpPr>
            <a:stCxn xmlns:a="http://schemas.openxmlformats.org/drawingml/2006/main" id="5" idx="3"/>
            <a:endCxn xmlns:a="http://schemas.openxmlformats.org/drawingml/2006/main" id="6" idx="1"/>
          </p:cNvCxnSpPr>
          <p:nvPr/>
        </p:nvCxnSpPr>
        <p:spPr>
          <a:xfrm xmlns:a="http://schemas.openxmlformats.org/drawingml/2006/main">
            <a:off x="6610350" y="2476500"/>
            <a:ext cx="666750" cy="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9" name="">
            <a:extLst xmlns:a="http://schemas.openxmlformats.org/drawingml/2006/main">
              <a:ext uri="{FF2B5EF4-FFF2-40B4-BE49-F238E27FC236}">
                <a16:creationId xmlns:a16="http://schemas.microsoft.com/office/drawing/2014/main" id="{F789F4B2-8711-4B03-87CF-588FF9B543E6}"/>
              </a:ext>
            </a:extLst>
          </p:cNvPr>
          <p:cNvSpPr>
            <a:spLocks xmlns:a="http://schemas.openxmlformats.org/drawingml/2006/main" noGrp="1"/>
          </p:cNvSpPr>
          <p:nvPr/>
        </p:nvSpPr>
        <p:spPr>
          <a:xfrm xmlns:a="http://schemas.openxmlformats.org/drawingml/2006/main">
            <a:off x="609600" y="32099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96B"/>
                </a:solidFill>
                <a:latin typeface="Arial"/>
                <a:ea typeface="Arial"/>
                <a:cs typeface="Arial"/>
              </a:defRPr>
            </a:pPr>
            <a:r>
              <a:rPr sz="2025" b="1">
                <a:solidFill>
                  <a:srgbClr val="16796B"/>
                </a:solidFill>
                <a:latin typeface="Arial"/>
                <a:ea typeface="Arial"/>
                <a:cs typeface="Arial"/>
              </a:rPr>
              <a:t>Execution DAG for one assessment</a:t>
            </a:r>
          </a:p>
        </p:txBody>
      </p:sp>
      <p:sp>
        <p:nvSpPr>
          <p:cNvPr id="10" name="">
            <a:extLst xmlns:a="http://schemas.openxmlformats.org/drawingml/2006/main">
              <a:ext uri="{FF2B5EF4-FFF2-40B4-BE49-F238E27FC236}">
                <a16:creationId xmlns:a16="http://schemas.microsoft.com/office/drawing/2014/main" id="{CBF6977E-81A0-4B03-B205-1FBA52BA8F4C}"/>
              </a:ext>
            </a:extLst>
          </p:cNvPr>
          <p:cNvSpPr>
            <a:spLocks xmlns:a="http://schemas.openxmlformats.org/drawingml/2006/main" noGrp="1"/>
          </p:cNvSpPr>
          <p:nvPr/>
        </p:nvSpPr>
        <p:spPr>
          <a:xfrm xmlns:a="http://schemas.openxmlformats.org/drawingml/2006/main">
            <a:off x="609600" y="3810000"/>
            <a:ext cx="21907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Plan tool call</a:t>
            </a:r>
          </a:p>
        </p:txBody>
      </p:sp>
      <p:sp>
        <p:nvSpPr>
          <p:cNvPr id="11" name="">
            <a:extLst xmlns:a="http://schemas.openxmlformats.org/drawingml/2006/main">
              <a:ext uri="{FF2B5EF4-FFF2-40B4-BE49-F238E27FC236}">
                <a16:creationId xmlns:a16="http://schemas.microsoft.com/office/drawing/2014/main" id="{140DBCA3-07B1-447B-97C2-798A985F10BB}"/>
              </a:ext>
            </a:extLst>
          </p:cNvPr>
          <p:cNvSpPr>
            <a:spLocks xmlns:a="http://schemas.openxmlformats.org/drawingml/2006/main" noGrp="1"/>
          </p:cNvSpPr>
          <p:nvPr/>
        </p:nvSpPr>
        <p:spPr>
          <a:xfrm xmlns:a="http://schemas.openxmlformats.org/drawingml/2006/main">
            <a:off x="3467100" y="3810000"/>
            <a:ext cx="3143250"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Validate + infer</a:t>
            </a:r>
          </a:p>
        </p:txBody>
      </p:sp>
      <p:sp>
        <p:nvSpPr>
          <p:cNvPr id="12" name="">
            <a:extLst xmlns:a="http://schemas.openxmlformats.org/drawingml/2006/main">
              <a:ext uri="{FF2B5EF4-FFF2-40B4-BE49-F238E27FC236}">
                <a16:creationId xmlns:a16="http://schemas.microsoft.com/office/drawing/2014/main" id="{E9A8CAD8-FB3D-4A8F-A997-12F96FB92711}"/>
              </a:ext>
            </a:extLst>
          </p:cNvPr>
          <p:cNvSpPr>
            <a:spLocks xmlns:a="http://schemas.openxmlformats.org/drawingml/2006/main" noGrp="1"/>
          </p:cNvSpPr>
          <p:nvPr/>
        </p:nvSpPr>
        <p:spPr>
          <a:xfrm xmlns:a="http://schemas.openxmlformats.org/drawingml/2006/main">
            <a:off x="7277100" y="3810000"/>
            <a:ext cx="2238375" cy="6096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Explain result</a:t>
            </a:r>
          </a:p>
        </p:txBody>
      </p:sp>
      <p:cxnSp>
        <p:nvCxnSpPr>
          <p:cNvPr id="33" name=""/>
          <p:cNvCxnSpPr>
            <a:stCxn xmlns:a="http://schemas.openxmlformats.org/drawingml/2006/main" id="10" idx="3"/>
            <a:endCxn xmlns:a="http://schemas.openxmlformats.org/drawingml/2006/main" id="11" idx="1"/>
          </p:cNvCxnSpPr>
          <p:nvPr/>
        </p:nvCxnSpPr>
        <p:spPr>
          <a:xfrm xmlns:a="http://schemas.openxmlformats.org/drawingml/2006/main">
            <a:off x="2800350" y="4114800"/>
            <a:ext cx="666750" cy="0"/>
          </a:xfrm>
          <a:prstGeom xmlns:a="http://schemas.openxmlformats.org/drawingml/2006/main" prst="straightConnector1">
            <a:avLst/>
          </a:prstGeom>
          <a:ln xmlns:a="http://schemas.openxmlformats.org/drawingml/2006/main" w="19050">
            <a:solidFill>
              <a:srgbClr val="16796B"/>
            </a:solidFill>
            <a:headEnd type="triangle" w="med" len="med"/>
          </a:ln>
        </p:spPr>
      </p:cxnSp>
      <p:cxnSp>
        <p:nvCxnSpPr>
          <p:cNvPr id="34" name=""/>
          <p:cNvCxnSpPr>
            <a:stCxn xmlns:a="http://schemas.openxmlformats.org/drawingml/2006/main" id="11" idx="3"/>
            <a:endCxn xmlns:a="http://schemas.openxmlformats.org/drawingml/2006/main" id="12" idx="1"/>
          </p:cNvCxnSpPr>
          <p:nvPr/>
        </p:nvCxnSpPr>
        <p:spPr>
          <a:xfrm xmlns:a="http://schemas.openxmlformats.org/drawingml/2006/main">
            <a:off x="6610350" y="4114800"/>
            <a:ext cx="666750" cy="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15" name="">
            <a:extLst xmlns:a="http://schemas.openxmlformats.org/drawingml/2006/main">
              <a:ext uri="{FF2B5EF4-FFF2-40B4-BE49-F238E27FC236}">
                <a16:creationId xmlns:a16="http://schemas.microsoft.com/office/drawing/2014/main" id="{487D61C2-38EE-4746-8528-858F1DEF6F5A}"/>
              </a:ext>
            </a:extLst>
          </p:cNvPr>
          <p:cNvSpPr>
            <a:spLocks xmlns:a="http://schemas.openxmlformats.org/drawingml/2006/main" noGrp="1"/>
          </p:cNvSpPr>
          <p:nvPr/>
        </p:nvSpPr>
        <p:spPr>
          <a:xfrm xmlns:a="http://schemas.openxmlformats.org/drawingml/2006/main">
            <a:off x="3467100" y="4933950"/>
            <a:ext cx="3143250" cy="7239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Invalid / failed:</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clarify or report error</a:t>
            </a:r>
          </a:p>
        </p:txBody>
      </p:sp>
      <p:cxnSp>
        <p:nvCxnSpPr>
          <p:cNvPr id="36" name=""/>
          <p:cNvCxnSpPr>
            <a:stCxn xmlns:a="http://schemas.openxmlformats.org/drawingml/2006/main" id="11" idx="2"/>
            <a:endCxn xmlns:a="http://schemas.openxmlformats.org/drawingml/2006/main" id="15" idx="0"/>
          </p:cNvCxnSpPr>
          <p:nvPr/>
        </p:nvCxnSpPr>
        <p:spPr>
          <a:xfrm xmlns:a="http://schemas.openxmlformats.org/drawingml/2006/main">
            <a:off x="5038725" y="4419600"/>
            <a:ext cx="0" cy="51435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17" name="">
            <a:extLst xmlns:a="http://schemas.openxmlformats.org/drawingml/2006/main">
              <a:ext uri="{FF2B5EF4-FFF2-40B4-BE49-F238E27FC236}">
                <a16:creationId xmlns:a16="http://schemas.microsoft.com/office/drawing/2014/main" id="{1B8290B5-A832-4FF5-BF79-D7822388C396}"/>
              </a:ext>
            </a:extLst>
          </p:cNvPr>
          <p:cNvSpPr>
            <a:spLocks xmlns:a="http://schemas.openxmlformats.org/drawingml/2006/main" noGrp="1"/>
          </p:cNvSpPr>
          <p:nvPr/>
        </p:nvSpPr>
        <p:spPr>
          <a:xfrm xmlns:a="http://schemas.openxmlformats.org/drawingml/2006/main">
            <a:off x="10096500" y="4819650"/>
            <a:ext cx="1619250" cy="838200"/>
          </a:xfrm>
          <a:prstGeom xmlns:a="http://schemas.openxmlformats.org/drawingml/2006/main" prst="rect">
            <a:avLst/>
          </a:prstGeom>
          <a:solidFill xmlns:a="http://schemas.openxmlformats.org/drawingml/2006/main">
            <a:srgbClr val="E8F1ED"/>
          </a:solidFill>
          <a:ln xmlns:a="http://schemas.openxmlformats.org/drawingml/2006/main" w="9525">
            <a:solidFill>
              <a:srgbClr val="16796B"/>
            </a:solidFill>
          </a:ln>
        </p:spPr>
        <p:txBody>
          <a:bodyPr xmlns:a="http://schemas.openxmlformats.org/drawingml/2006/main" anchor="ctr">
            <a:noAutofit/>
          </a:bodyPr>
          <a:lstStyle xmlns:a="http://schemas.openxmlformats.org/drawingml/2006/main"/>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Response +</a:t>
            </a:r>
          </a:p>
          <a:p xmlns:a="http://schemas.openxmlformats.org/drawingml/2006/main">
            <a:pPr algn="ctr">
              <a:defRPr sz="1875">
                <a:solidFill>
                  <a:srgbClr val="132B36"/>
                </a:solidFill>
                <a:latin typeface="Arial"/>
                <a:ea typeface="Arial"/>
                <a:cs typeface="Arial"/>
              </a:defRPr>
            </a:pPr>
            <a:r>
              <a:rPr sz="1875">
                <a:solidFill>
                  <a:srgbClr val="132B36"/>
                </a:solidFill>
                <a:latin typeface="Arial"/>
                <a:ea typeface="Arial"/>
                <a:cs typeface="Arial"/>
              </a:rPr>
              <a:t>raw ML output</a:t>
            </a:r>
          </a:p>
        </p:txBody>
      </p:sp>
      <p:cxnSp>
        <p:nvCxnSpPr>
          <p:cNvPr id="38" name=""/>
          <p:cNvCxnSpPr>
            <a:stCxn xmlns:a="http://schemas.openxmlformats.org/drawingml/2006/main" id="12" idx="3"/>
            <a:endCxn xmlns:a="http://schemas.openxmlformats.org/drawingml/2006/main" id="17" idx="0"/>
          </p:cNvCxnSpPr>
          <p:nvPr/>
        </p:nvCxnSpPr>
        <p:spPr>
          <a:xfrm xmlns:a="http://schemas.openxmlformats.org/drawingml/2006/main">
            <a:off x="9515475" y="4114800"/>
            <a:ext cx="1390650" cy="704850"/>
          </a:xfrm>
          <a:prstGeom xmlns:a="http://schemas.openxmlformats.org/drawingml/2006/main" prst="straightConnector1">
            <a:avLst/>
          </a:prstGeom>
          <a:ln xmlns:a="http://schemas.openxmlformats.org/drawingml/2006/main" w="19050">
            <a:solidFill>
              <a:srgbClr val="16796B"/>
            </a:solidFill>
            <a:headEnd type="triangle" w="med" len="med"/>
          </a:ln>
        </p:spPr>
      </p:cxnSp>
      <p:cxnSp>
        <p:nvCxnSpPr>
          <p:cNvPr id="39" name=""/>
          <p:cNvCxnSpPr>
            <a:stCxn xmlns:a="http://schemas.openxmlformats.org/drawingml/2006/main" id="11" idx="3"/>
            <a:endCxn xmlns:a="http://schemas.openxmlformats.org/drawingml/2006/main" id="17" idx="1"/>
          </p:cNvCxnSpPr>
          <p:nvPr/>
        </p:nvCxnSpPr>
        <p:spPr>
          <a:xfrm xmlns:a="http://schemas.openxmlformats.org/drawingml/2006/main">
            <a:off x="6610350" y="4114800"/>
            <a:ext cx="3486150" cy="1123950"/>
          </a:xfrm>
          <a:prstGeom xmlns:a="http://schemas.openxmlformats.org/drawingml/2006/main" prst="straightConnector1">
            <a:avLst/>
          </a:prstGeom>
          <a:ln xmlns:a="http://schemas.openxmlformats.org/drawingml/2006/main" w="19050">
            <a:solidFill>
              <a:srgbClr val="16796B"/>
            </a:solidFill>
            <a:headEnd type="triangle" w="med" len="med"/>
          </a:ln>
        </p:spPr>
      </p:cxnSp>
      <p:sp>
        <p:nvSpPr>
          <p:cNvPr id="20" name="">
            <a:extLst xmlns:a="http://schemas.openxmlformats.org/drawingml/2006/main">
              <a:ext uri="{FF2B5EF4-FFF2-40B4-BE49-F238E27FC236}">
                <a16:creationId xmlns:a16="http://schemas.microsoft.com/office/drawing/2014/main" id="{1768ADCB-61A1-4C07-AF7E-CDF0B07BEFCC}"/>
              </a:ext>
            </a:extLst>
          </p:cNvPr>
          <p:cNvSpPr>
            <a:spLocks xmlns:a="http://schemas.openxmlformats.org/drawingml/2006/main" noGrp="1"/>
          </p:cNvSpPr>
          <p:nvPr/>
        </p:nvSpPr>
        <p:spPr>
          <a:xfrm xmlns:a="http://schemas.openxmlformats.org/drawingml/2006/main">
            <a:off x="609600" y="6000750"/>
            <a:ext cx="1076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6796B"/>
                </a:solidFill>
                <a:latin typeface="Arial"/>
                <a:ea typeface="Arial"/>
                <a:cs typeface="Arial"/>
              </a:defRPr>
            </a:pPr>
            <a:r>
              <a:rPr sz="1800" b="0">
                <a:solidFill>
                  <a:srgbClr val="16796B"/>
                </a:solidFill>
                <a:latin typeface="Arial"/>
                <a:ea typeface="Arial"/>
                <a:cs typeface="Arial"/>
              </a:rPr>
              <a:t>Raw result passes through unchanged: p_failure, prediction, threshold, notices</a:t>
            </a:r>
          </a:p>
        </p:txBody>
      </p:sp>
    </p:spTree>
    <p:extLst>
      <p:ext uri="{BB962C8B-B14F-4D97-AF65-F5344CB8AC3E}">
        <p14:creationId xmlns:p14="http://schemas.microsoft.com/office/powerpoint/2010/main" val="8455234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2026-09-29T13:10:21.7900000Z</dcterms:created>
  <dcterms:modified xsi:type="dcterms:W3CDTF">2026-09-29T13:10:21.7900000Z</dcterms:modified>
</coreProperties>
</file>